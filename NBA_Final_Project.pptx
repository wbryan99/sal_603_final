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99" d="100"/>
          <a:sy n="199" d="100"/>
        </p:scale>
        <p:origin x="3222" y="3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5379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TITLE
Welcome everyone. Our final project for SAL 603 analyzes NBA player data from the 2023-24 season.
We focused on one central question: can basic box score stats predict Player Efficiency Rating — the NBA's most cited all-in-one player metric?
We had three research questions, shown on the right. Let's get into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WHAT IS PER
PER was created by John Hollinger to capture everything a player does in one number.
League average is always 15.0 — so we can immediately tell if a player is above or below average.
The benchmark chart on the right shows how PER values map to player tiers. A 27+ PER is MVP territory. Luka Doncic sits at 35.1 this season.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DATA &amp; METHODOLOGY
All data came from Basketball-Reference.com. We filtered to players with 20+ games to avoid small sample sizes, giving us 50 players.
Our outcome variable is PER. Our 8 predictors are the standard box score counting stats plus FG% and FT%.
We mapped the 5 positions into 3 groups, standardized our features, and used a 70/30 train-test split. Everything was done in Python — no Excel.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4 — CORRELATION HEATMAP (RQ1)
This heatmap shows correlations between every stat and PER. The key column is the far right — PER.
Points Per Game at 0.94 is the dominant signal. Turnovers at 0.93 seems strange but reflects usage — stars handle the ball on every possession.
Field Goal % alone is only 0.13 — efficiency only matters when combined with volume.
Answer to RQ1: Scoring is king, but versatility matters. Assists, steals, and rebounds all add real predictive value.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 POSITION ANALYSIS (RQ2)
The left violin plot shows PER distribution by position group. Centers have the highest average at 21.5, largely because interior shots are more efficient and PER rewards rebounding.
Guards show the most variance — elite playmakers at the top, bench role players at the bottom.
The scatter on the right shows a strong upward trend — more points generally means higher PER across all positions.
Answer to RQ2: Position does matter. Centers benefit most from PER's formula. Guards have the most variability.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6 — REGRESSION MODEL (RQ3)
We trained a multiple linear regression using all 8 stats. The R² of 0.954 means our model explains 95% of the variance in PER.
The RMSE of 1.19 means predictions are off by about 1.2 PER points on average — solid accuracy for a real-world sports model.
The left chart shows standardized coefficients. Points Per Game had the highest positive coefficient at 3.10, followed by Turnovers at 1.93 (usage), then Rebounds and Assists.
The right chart shows actual vs predicted PER — dots close to the diagonal line are accurate predictions.
Answer to RQ3: Yes. Basic box score stats can reliably predict PER.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 TOP 15 PLAYERS
This chart makes the data tangible — you can see each player's PER alongside their per-game stats.
Luka Doncic leads at 35.1 — 33.9 points, 9.2 rebounds, 9.8 assists. That's the kind of across-the-board dominance PER rewards.
Two of the top three are Centers — Embiid at 33.1 and Jokic at 31.8. This ties back to our RQ2 finding about Centers benefiting from PER's formula.
All top players contribute across multiple categories — not just scoring. That's consistent with our regression findings.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8 — CONCLUSIONS
To wrap up — three research questions, three clear answers.
RQ1: Scoring is king. Points dominates. Assists and defense add value. FG% alone is weak.
RQ2: Position matters. Centers benefit most from PER's formula. Guards have the most variance.
RQ3: Yes, we can predict PER. 95% accuracy from basic stats alone.
The big practical takeaway: if a player wants to raise their PER, the fastest path is cutting turnovers while staying aggressive offensively.
Thank you — we're happy to answer any questions in the discussion thread.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6035040" cy="5143500"/>
          </a:xfrm>
          <a:prstGeom prst="rect">
            <a:avLst/>
          </a:prstGeom>
          <a:solidFill>
            <a:srgbClr val="0A1628"/>
          </a:solidFill>
          <a:ln w="12700">
            <a:solidFill>
              <a:srgbClr val="0A1628"/>
            </a:solidFill>
            <a:prstDash val="solid"/>
          </a:ln>
        </p:spPr>
        <p:txBody>
          <a:bodyPr/>
          <a:lstStyle/>
          <a:p>
            <a:endParaRPr lang="en-US" dirty="0"/>
          </a:p>
        </p:txBody>
      </p:sp>
      <p:sp>
        <p:nvSpPr>
          <p:cNvPr id="3" name="Shape 1"/>
          <p:cNvSpPr/>
          <p:nvPr/>
        </p:nvSpPr>
        <p:spPr>
          <a:xfrm>
            <a:off x="6035040" y="0"/>
            <a:ext cx="3108960" cy="5143500"/>
          </a:xfrm>
          <a:prstGeom prst="rect">
            <a:avLst/>
          </a:prstGeom>
          <a:solidFill>
            <a:srgbClr val="0D1F3C"/>
          </a:solidFill>
          <a:ln w="12700">
            <a:solidFill>
              <a:srgbClr val="0D1F3C"/>
            </a:solidFill>
            <a:prstDash val="solid"/>
          </a:ln>
        </p:spPr>
        <p:txBody>
          <a:bodyPr/>
          <a:lstStyle/>
          <a:p>
            <a:endParaRPr lang="en-US"/>
          </a:p>
        </p:txBody>
      </p:sp>
      <p:sp>
        <p:nvSpPr>
          <p:cNvPr id="4" name="Shape 2"/>
          <p:cNvSpPr/>
          <p:nvPr/>
        </p:nvSpPr>
        <p:spPr>
          <a:xfrm>
            <a:off x="0" y="0"/>
            <a:ext cx="9144000" cy="64008"/>
          </a:xfrm>
          <a:prstGeom prst="rect">
            <a:avLst/>
          </a:prstGeom>
          <a:solidFill>
            <a:srgbClr val="C9A84C"/>
          </a:solidFill>
          <a:ln w="12700">
            <a:solidFill>
              <a:srgbClr val="C9A84C"/>
            </a:solidFill>
            <a:prstDash val="solid"/>
          </a:ln>
        </p:spPr>
        <p:txBody>
          <a:bodyPr/>
          <a:lstStyle/>
          <a:p>
            <a:endParaRPr lang="en-US"/>
          </a:p>
        </p:txBody>
      </p:sp>
      <p:sp>
        <p:nvSpPr>
          <p:cNvPr id="5" name="Shape 3"/>
          <p:cNvSpPr/>
          <p:nvPr/>
        </p:nvSpPr>
        <p:spPr>
          <a:xfrm>
            <a:off x="5989320" y="0"/>
            <a:ext cx="54864" cy="5143500"/>
          </a:xfrm>
          <a:prstGeom prst="rect">
            <a:avLst/>
          </a:prstGeom>
          <a:solidFill>
            <a:srgbClr val="C9A84C"/>
          </a:solidFill>
          <a:ln w="12700">
            <a:solidFill>
              <a:srgbClr val="C9A84C"/>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457200" y="457200"/>
            <a:ext cx="502920" cy="502920"/>
          </a:xfrm>
          <a:prstGeom prst="rect">
            <a:avLst/>
          </a:prstGeom>
        </p:spPr>
      </p:pic>
      <p:sp>
        <p:nvSpPr>
          <p:cNvPr id="7" name="Text 4"/>
          <p:cNvSpPr/>
          <p:nvPr/>
        </p:nvSpPr>
        <p:spPr>
          <a:xfrm>
            <a:off x="1097280" y="475488"/>
            <a:ext cx="4754880" cy="411480"/>
          </a:xfrm>
          <a:prstGeom prst="rect">
            <a:avLst/>
          </a:prstGeom>
          <a:noFill/>
          <a:ln/>
        </p:spPr>
        <p:txBody>
          <a:bodyPr wrap="square" lIns="0" tIns="0" rIns="0" bIns="0" rtlCol="0" anchor="ctr"/>
          <a:lstStyle/>
          <a:p>
            <a:pPr marL="0" indent="0">
              <a:buNone/>
            </a:pPr>
            <a:r>
              <a:rPr lang="en-US" sz="1300" i="1" dirty="0">
                <a:solidFill>
                  <a:srgbClr val="8FA3BF"/>
                </a:solidFill>
                <a:latin typeface="Calibri" pitchFamily="34" charset="0"/>
                <a:ea typeface="Calibri" pitchFamily="34" charset="-122"/>
                <a:cs typeface="Calibri" pitchFamily="34" charset="-120"/>
              </a:rPr>
              <a:t>SAL 603  —  Final Project</a:t>
            </a:r>
            <a:endParaRPr lang="en-US" sz="1300" dirty="0"/>
          </a:p>
        </p:txBody>
      </p:sp>
      <p:sp>
        <p:nvSpPr>
          <p:cNvPr id="8" name="Text 5"/>
          <p:cNvSpPr/>
          <p:nvPr/>
        </p:nvSpPr>
        <p:spPr>
          <a:xfrm>
            <a:off x="457200" y="1143000"/>
            <a:ext cx="5486400" cy="1737360"/>
          </a:xfrm>
          <a:prstGeom prst="rect">
            <a:avLst/>
          </a:prstGeom>
          <a:noFill/>
          <a:ln/>
        </p:spPr>
        <p:txBody>
          <a:bodyPr wrap="square" lIns="0" tIns="0" rIns="0" bIns="0" rtlCol="0" anchor="ctr"/>
          <a:lstStyle/>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NBA Player</a:t>
            </a:r>
            <a:endParaRPr lang="en-US" sz="4400" dirty="0"/>
          </a:p>
          <a:p>
            <a:pPr marL="0" indent="0">
              <a:lnSpc>
                <a:spcPct val="110000"/>
              </a:lnSpc>
              <a:buNone/>
            </a:pPr>
            <a:r>
              <a:rPr lang="en-US" sz="4400" b="1" dirty="0">
                <a:solidFill>
                  <a:srgbClr val="FFFFFF"/>
                </a:solidFill>
                <a:latin typeface="Calibri" pitchFamily="34" charset="0"/>
                <a:ea typeface="Calibri" pitchFamily="34" charset="-122"/>
                <a:cs typeface="Calibri" pitchFamily="34" charset="-120"/>
              </a:rPr>
              <a:t>Efficiency Rating</a:t>
            </a:r>
            <a:endParaRPr lang="en-US" sz="4400" dirty="0"/>
          </a:p>
        </p:txBody>
      </p:sp>
      <p:sp>
        <p:nvSpPr>
          <p:cNvPr id="9" name="Text 6"/>
          <p:cNvSpPr/>
          <p:nvPr/>
        </p:nvSpPr>
        <p:spPr>
          <a:xfrm>
            <a:off x="457200" y="2926080"/>
            <a:ext cx="5303520" cy="457200"/>
          </a:xfrm>
          <a:prstGeom prst="rect">
            <a:avLst/>
          </a:prstGeom>
          <a:noFill/>
          <a:ln/>
        </p:spPr>
        <p:txBody>
          <a:bodyPr wrap="square" lIns="0" tIns="0" rIns="0" bIns="0" rtlCol="0" anchor="ctr"/>
          <a:lstStyle/>
          <a:p>
            <a:pPr marL="0" indent="0">
              <a:buNone/>
            </a:pPr>
            <a:r>
              <a:rPr lang="en-US" sz="1800" b="1" dirty="0">
                <a:solidFill>
                  <a:srgbClr val="C9A84C"/>
                </a:solidFill>
                <a:latin typeface="Calibri" pitchFamily="34" charset="0"/>
                <a:ea typeface="Calibri" pitchFamily="34" charset="-122"/>
                <a:cs typeface="Calibri" pitchFamily="34" charset="-120"/>
              </a:rPr>
              <a:t>Which Box Score Stats Drive PER?</a:t>
            </a:r>
            <a:endParaRPr lang="en-US" sz="1800" dirty="0"/>
          </a:p>
        </p:txBody>
      </p:sp>
      <p:sp>
        <p:nvSpPr>
          <p:cNvPr id="10" name="Shape 7"/>
          <p:cNvSpPr/>
          <p:nvPr/>
        </p:nvSpPr>
        <p:spPr>
          <a:xfrm>
            <a:off x="457200" y="3474720"/>
            <a:ext cx="2286000" cy="36576"/>
          </a:xfrm>
          <a:prstGeom prst="rect">
            <a:avLst/>
          </a:prstGeom>
          <a:solidFill>
            <a:srgbClr val="C9A84C"/>
          </a:solidFill>
          <a:ln w="12700">
            <a:solidFill>
              <a:srgbClr val="C9A84C"/>
            </a:solidFill>
            <a:prstDash val="solid"/>
          </a:ln>
        </p:spPr>
        <p:txBody>
          <a:bodyPr/>
          <a:lstStyle/>
          <a:p>
            <a:endParaRPr lang="en-US"/>
          </a:p>
        </p:txBody>
      </p:sp>
      <p:sp>
        <p:nvSpPr>
          <p:cNvPr id="11" name="Text 8"/>
          <p:cNvSpPr/>
          <p:nvPr/>
        </p:nvSpPr>
        <p:spPr>
          <a:xfrm>
            <a:off x="457200" y="3611880"/>
            <a:ext cx="5486400" cy="1188720"/>
          </a:xfrm>
          <a:prstGeom prst="rect">
            <a:avLst/>
          </a:prstGeom>
          <a:noFill/>
          <a:ln/>
        </p:spPr>
        <p:txBody>
          <a:bodyPr wrap="square" lIns="0" tIns="0" rIns="0" bIns="0" rtlCol="0" anchor="ctr"/>
          <a:lstStyle/>
          <a:p>
            <a:pPr marL="0" indent="0">
              <a:lnSpc>
                <a:spcPct val="150000"/>
              </a:lnSpc>
              <a:buNone/>
            </a:pPr>
            <a:r>
              <a:rPr lang="en-US" sz="1200" dirty="0">
                <a:solidFill>
                  <a:srgbClr val="8FA3BF"/>
                </a:solidFill>
                <a:latin typeface="Calibri" pitchFamily="34" charset="0"/>
                <a:ea typeface="Calibri" pitchFamily="34" charset="-122"/>
                <a:cs typeface="Calibri" pitchFamily="34" charset="-120"/>
              </a:rPr>
              <a:t>2023–24 NBA Season  |  50 Players</a:t>
            </a:r>
            <a:endParaRPr lang="en-US" sz="1200" dirty="0"/>
          </a:p>
          <a:p>
            <a:pPr marL="0" indent="0">
              <a:lnSpc>
                <a:spcPct val="150000"/>
              </a:lnSpc>
              <a:buNone/>
            </a:pPr>
            <a:r>
              <a:rPr lang="en-US" sz="1200" dirty="0">
                <a:solidFill>
                  <a:srgbClr val="8FA3BF"/>
                </a:solidFill>
                <a:latin typeface="Calibri" pitchFamily="34" charset="0"/>
                <a:ea typeface="Calibri" pitchFamily="34" charset="-122"/>
                <a:cs typeface="Calibri" pitchFamily="34" charset="-120"/>
              </a:rPr>
              <a:t>Data: Basketball-Reference.com</a:t>
            </a:r>
            <a:endParaRPr lang="en-US" sz="1200" dirty="0"/>
          </a:p>
          <a:p>
            <a:pPr marL="0" indent="0">
              <a:lnSpc>
                <a:spcPct val="150000"/>
              </a:lnSpc>
              <a:buNone/>
            </a:pPr>
            <a:r>
              <a:rPr lang="en-US" sz="1200" dirty="0">
                <a:solidFill>
                  <a:srgbClr val="8FA3BF"/>
                </a:solidFill>
                <a:latin typeface="Calibri" pitchFamily="34" charset="0"/>
                <a:ea typeface="Calibri" pitchFamily="34" charset="-122"/>
                <a:cs typeface="Calibri" pitchFamily="34" charset="-120"/>
              </a:rPr>
              <a:t>Tools: Python · pandas · scikit-learn · matplotlib</a:t>
            </a:r>
          </a:p>
          <a:p>
            <a:pPr marL="0" indent="0">
              <a:lnSpc>
                <a:spcPct val="150000"/>
              </a:lnSpc>
              <a:buNone/>
            </a:pPr>
            <a:r>
              <a:rPr lang="en-US" sz="1200" dirty="0">
                <a:solidFill>
                  <a:srgbClr val="8FA3BF"/>
                </a:solidFill>
                <a:latin typeface="Calibri" pitchFamily="34" charset="0"/>
                <a:ea typeface="Calibri" pitchFamily="34" charset="-122"/>
                <a:cs typeface="Calibri" pitchFamily="34" charset="-120"/>
              </a:rPr>
              <a:t>By: Wesley Bryan</a:t>
            </a:r>
          </a:p>
        </p:txBody>
      </p:sp>
      <p:sp>
        <p:nvSpPr>
          <p:cNvPr id="12" name="Text 9"/>
          <p:cNvSpPr/>
          <p:nvPr/>
        </p:nvSpPr>
        <p:spPr>
          <a:xfrm>
            <a:off x="6217920" y="502920"/>
            <a:ext cx="2743200" cy="320040"/>
          </a:xfrm>
          <a:prstGeom prst="rect">
            <a:avLst/>
          </a:prstGeom>
          <a:noFill/>
          <a:ln/>
        </p:spPr>
        <p:txBody>
          <a:bodyPr wrap="square" lIns="0" tIns="0" rIns="0" bIns="0" rtlCol="0" anchor="ctr"/>
          <a:lstStyle/>
          <a:p>
            <a:pPr marL="0" indent="0">
              <a:buNone/>
            </a:pPr>
            <a:r>
              <a:rPr lang="en-US" sz="1000" b="1" kern="0" spc="300" dirty="0">
                <a:solidFill>
                  <a:srgbClr val="C9A84C"/>
                </a:solidFill>
                <a:latin typeface="Calibri" pitchFamily="34" charset="0"/>
                <a:ea typeface="Calibri" pitchFamily="34" charset="-122"/>
                <a:cs typeface="Calibri" pitchFamily="34" charset="-120"/>
              </a:rPr>
              <a:t>RESEARCH QUESTIONS</a:t>
            </a:r>
            <a:endParaRPr lang="en-US" sz="1000" dirty="0"/>
          </a:p>
        </p:txBody>
      </p:sp>
      <p:sp>
        <p:nvSpPr>
          <p:cNvPr id="13" name="Shape 10"/>
          <p:cNvSpPr/>
          <p:nvPr/>
        </p:nvSpPr>
        <p:spPr>
          <a:xfrm>
            <a:off x="6172200" y="1005840"/>
            <a:ext cx="2743200" cy="1097280"/>
          </a:xfrm>
          <a:prstGeom prst="rect">
            <a:avLst/>
          </a:prstGeom>
          <a:solidFill>
            <a:srgbClr val="142038"/>
          </a:solidFill>
          <a:ln w="9525">
            <a:solidFill>
              <a:srgbClr val="C9A84C"/>
            </a:solidFill>
            <a:prstDash val="solid"/>
          </a:ln>
          <a:effectLst>
            <a:outerShdw blurRad="101600" dist="38100" dir="8100000" algn="bl" rotWithShape="0">
              <a:srgbClr val="000000">
                <a:alpha val="18000"/>
              </a:srgbClr>
            </a:outerShdw>
          </a:effectLst>
        </p:spPr>
        <p:txBody>
          <a:bodyPr/>
          <a:lstStyle/>
          <a:p>
            <a:endParaRPr lang="en-US"/>
          </a:p>
        </p:txBody>
      </p:sp>
      <p:sp>
        <p:nvSpPr>
          <p:cNvPr id="14" name="Text 11"/>
          <p:cNvSpPr/>
          <p:nvPr/>
        </p:nvSpPr>
        <p:spPr>
          <a:xfrm>
            <a:off x="6263640" y="1097280"/>
            <a:ext cx="502920" cy="457200"/>
          </a:xfrm>
          <a:prstGeom prst="rect">
            <a:avLst/>
          </a:prstGeom>
          <a:noFill/>
          <a:ln/>
        </p:spPr>
        <p:txBody>
          <a:bodyPr wrap="square" lIns="0" tIns="0" rIns="0" bIns="0" rtlCol="0" anchor="ctr"/>
          <a:lstStyle/>
          <a:p>
            <a:pPr marL="0" indent="0">
              <a:buNone/>
            </a:pPr>
            <a:r>
              <a:rPr lang="en-US" sz="2600" b="1" dirty="0">
                <a:solidFill>
                  <a:srgbClr val="C9A84C"/>
                </a:solidFill>
                <a:latin typeface="Calibri" pitchFamily="34" charset="0"/>
                <a:ea typeface="Calibri" pitchFamily="34" charset="-122"/>
                <a:cs typeface="Calibri" pitchFamily="34" charset="-120"/>
              </a:rPr>
              <a:t>01</a:t>
            </a:r>
            <a:endParaRPr lang="en-US" sz="2600" dirty="0"/>
          </a:p>
        </p:txBody>
      </p:sp>
      <p:sp>
        <p:nvSpPr>
          <p:cNvPr id="15" name="Text 12"/>
          <p:cNvSpPr/>
          <p:nvPr/>
        </p:nvSpPr>
        <p:spPr>
          <a:xfrm>
            <a:off x="6263640" y="1536192"/>
            <a:ext cx="2560320" cy="502920"/>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Which box score stats correlate most with PER?</a:t>
            </a:r>
            <a:endParaRPr lang="en-US" sz="1200" dirty="0"/>
          </a:p>
        </p:txBody>
      </p:sp>
      <p:sp>
        <p:nvSpPr>
          <p:cNvPr id="16" name="Shape 13"/>
          <p:cNvSpPr/>
          <p:nvPr/>
        </p:nvSpPr>
        <p:spPr>
          <a:xfrm>
            <a:off x="6172200" y="2331720"/>
            <a:ext cx="2743200" cy="1097280"/>
          </a:xfrm>
          <a:prstGeom prst="rect">
            <a:avLst/>
          </a:prstGeom>
          <a:solidFill>
            <a:srgbClr val="142038"/>
          </a:solidFill>
          <a:ln w="9525">
            <a:solidFill>
              <a:srgbClr val="C9A84C"/>
            </a:solidFill>
            <a:prstDash val="solid"/>
          </a:ln>
          <a:effectLst>
            <a:outerShdw blurRad="101600" dist="38100" dir="8100000" algn="bl" rotWithShape="0">
              <a:srgbClr val="000000">
                <a:alpha val="18000"/>
              </a:srgbClr>
            </a:outerShdw>
          </a:effectLst>
        </p:spPr>
        <p:txBody>
          <a:bodyPr/>
          <a:lstStyle/>
          <a:p>
            <a:endParaRPr lang="en-US"/>
          </a:p>
        </p:txBody>
      </p:sp>
      <p:sp>
        <p:nvSpPr>
          <p:cNvPr id="17" name="Text 14"/>
          <p:cNvSpPr/>
          <p:nvPr/>
        </p:nvSpPr>
        <p:spPr>
          <a:xfrm>
            <a:off x="6263640" y="2423160"/>
            <a:ext cx="502920" cy="457200"/>
          </a:xfrm>
          <a:prstGeom prst="rect">
            <a:avLst/>
          </a:prstGeom>
          <a:noFill/>
          <a:ln/>
        </p:spPr>
        <p:txBody>
          <a:bodyPr wrap="square" lIns="0" tIns="0" rIns="0" bIns="0" rtlCol="0" anchor="ctr"/>
          <a:lstStyle/>
          <a:p>
            <a:pPr marL="0" indent="0">
              <a:buNone/>
            </a:pPr>
            <a:r>
              <a:rPr lang="en-US" sz="2600" b="1" dirty="0">
                <a:solidFill>
                  <a:srgbClr val="C9A84C"/>
                </a:solidFill>
                <a:latin typeface="Calibri" pitchFamily="34" charset="0"/>
                <a:ea typeface="Calibri" pitchFamily="34" charset="-122"/>
                <a:cs typeface="Calibri" pitchFamily="34" charset="-120"/>
              </a:rPr>
              <a:t>02</a:t>
            </a:r>
            <a:endParaRPr lang="en-US" sz="2600" dirty="0"/>
          </a:p>
        </p:txBody>
      </p:sp>
      <p:sp>
        <p:nvSpPr>
          <p:cNvPr id="18" name="Text 15"/>
          <p:cNvSpPr/>
          <p:nvPr/>
        </p:nvSpPr>
        <p:spPr>
          <a:xfrm>
            <a:off x="6263640" y="2862072"/>
            <a:ext cx="2560320" cy="502920"/>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Do PER predictors differ by position group?</a:t>
            </a:r>
            <a:endParaRPr lang="en-US" sz="1200" dirty="0"/>
          </a:p>
        </p:txBody>
      </p:sp>
      <p:sp>
        <p:nvSpPr>
          <p:cNvPr id="19" name="Shape 16"/>
          <p:cNvSpPr/>
          <p:nvPr/>
        </p:nvSpPr>
        <p:spPr>
          <a:xfrm>
            <a:off x="6172200" y="3657600"/>
            <a:ext cx="2743200" cy="1097280"/>
          </a:xfrm>
          <a:prstGeom prst="rect">
            <a:avLst/>
          </a:prstGeom>
          <a:solidFill>
            <a:srgbClr val="142038"/>
          </a:solidFill>
          <a:ln w="9525">
            <a:solidFill>
              <a:srgbClr val="C9A84C"/>
            </a:solidFill>
            <a:prstDash val="solid"/>
          </a:ln>
          <a:effectLst>
            <a:outerShdw blurRad="101600" dist="38100" dir="8100000" algn="bl" rotWithShape="0">
              <a:srgbClr val="000000">
                <a:alpha val="18000"/>
              </a:srgbClr>
            </a:outerShdw>
          </a:effectLst>
        </p:spPr>
        <p:txBody>
          <a:bodyPr/>
          <a:lstStyle/>
          <a:p>
            <a:endParaRPr lang="en-US"/>
          </a:p>
        </p:txBody>
      </p:sp>
      <p:sp>
        <p:nvSpPr>
          <p:cNvPr id="20" name="Text 17"/>
          <p:cNvSpPr/>
          <p:nvPr/>
        </p:nvSpPr>
        <p:spPr>
          <a:xfrm>
            <a:off x="6263640" y="3749040"/>
            <a:ext cx="502920" cy="457200"/>
          </a:xfrm>
          <a:prstGeom prst="rect">
            <a:avLst/>
          </a:prstGeom>
          <a:noFill/>
          <a:ln/>
        </p:spPr>
        <p:txBody>
          <a:bodyPr wrap="square" lIns="0" tIns="0" rIns="0" bIns="0" rtlCol="0" anchor="ctr"/>
          <a:lstStyle/>
          <a:p>
            <a:pPr marL="0" indent="0">
              <a:buNone/>
            </a:pPr>
            <a:r>
              <a:rPr lang="en-US" sz="2600" b="1" dirty="0">
                <a:solidFill>
                  <a:srgbClr val="C9A84C"/>
                </a:solidFill>
                <a:latin typeface="Calibri" pitchFamily="34" charset="0"/>
                <a:ea typeface="Calibri" pitchFamily="34" charset="-122"/>
                <a:cs typeface="Calibri" pitchFamily="34" charset="-120"/>
              </a:rPr>
              <a:t>03</a:t>
            </a:r>
            <a:endParaRPr lang="en-US" sz="2600" dirty="0"/>
          </a:p>
        </p:txBody>
      </p:sp>
      <p:sp>
        <p:nvSpPr>
          <p:cNvPr id="21" name="Text 18"/>
          <p:cNvSpPr/>
          <p:nvPr/>
        </p:nvSpPr>
        <p:spPr>
          <a:xfrm>
            <a:off x="6263640" y="4187952"/>
            <a:ext cx="2560320" cy="502920"/>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Can we predict PER using regression?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txBody>
          <a:bodyPr/>
          <a:lstStyle/>
          <a:p>
            <a:endParaRPr lang="en-US"/>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What Is Player Efficiency Rating?</a:t>
            </a:r>
            <a:endParaRPr lang="en-US" sz="2800" dirty="0"/>
          </a:p>
        </p:txBody>
      </p:sp>
      <p:sp>
        <p:nvSpPr>
          <p:cNvPr id="4" name="Text 2"/>
          <p:cNvSpPr/>
          <p:nvPr/>
        </p:nvSpPr>
        <p:spPr>
          <a:xfrm>
            <a:off x="457200" y="713232"/>
            <a:ext cx="8229600" cy="292608"/>
          </a:xfrm>
          <a:prstGeom prst="rect">
            <a:avLst/>
          </a:prstGeom>
          <a:noFill/>
          <a:ln/>
        </p:spPr>
        <p:txBody>
          <a:bodyPr wrap="square" lIns="0" tIns="0" rIns="0" bIns="0" rtlCol="0" anchor="ctr"/>
          <a:lstStyle/>
          <a:p>
            <a:pPr marL="0" indent="0">
              <a:buNone/>
            </a:pPr>
            <a:r>
              <a:rPr lang="en-US" sz="1300" i="1" dirty="0">
                <a:solidFill>
                  <a:srgbClr val="C9A84C"/>
                </a:solidFill>
                <a:latin typeface="Calibri" pitchFamily="34" charset="0"/>
                <a:ea typeface="Calibri" pitchFamily="34" charset="-122"/>
                <a:cs typeface="Calibri" pitchFamily="34" charset="-120"/>
              </a:rPr>
              <a:t>Background &amp; Context</a:t>
            </a:r>
            <a:endParaRPr lang="en-US" sz="1300" dirty="0"/>
          </a:p>
        </p:txBody>
      </p:sp>
      <p:sp>
        <p:nvSpPr>
          <p:cNvPr id="5" name="Text 3"/>
          <p:cNvSpPr/>
          <p:nvPr/>
        </p:nvSpPr>
        <p:spPr>
          <a:xfrm>
            <a:off x="8046720" y="4846320"/>
            <a:ext cx="822960" cy="228600"/>
          </a:xfrm>
          <a:prstGeom prst="rect">
            <a:avLst/>
          </a:prstGeom>
          <a:noFill/>
          <a:ln/>
        </p:spPr>
        <p:txBody>
          <a:bodyPr wrap="square" lIns="0" tIns="0" rIns="0" bIns="0" rtlCol="0" anchor="ctr"/>
          <a:lstStyle/>
          <a:p>
            <a:pPr marL="0" indent="0" algn="r">
              <a:buNone/>
            </a:pPr>
            <a:r>
              <a:rPr lang="en-US" sz="900" dirty="0">
                <a:solidFill>
                  <a:srgbClr val="8FA3BF"/>
                </a:solidFill>
                <a:latin typeface="Calibri" pitchFamily="34" charset="0"/>
                <a:ea typeface="Calibri" pitchFamily="34" charset="-122"/>
                <a:cs typeface="Calibri" pitchFamily="34" charset="-120"/>
              </a:rPr>
              <a:t>2 / 8</a:t>
            </a:r>
            <a:endParaRPr lang="en-US" sz="900" dirty="0"/>
          </a:p>
        </p:txBody>
      </p:sp>
      <p:sp>
        <p:nvSpPr>
          <p:cNvPr id="6" name="Shape 4"/>
          <p:cNvSpPr/>
          <p:nvPr/>
        </p:nvSpPr>
        <p:spPr>
          <a:xfrm>
            <a:off x="320040" y="1051560"/>
            <a:ext cx="5120640" cy="3840480"/>
          </a:xfrm>
          <a:prstGeom prst="rect">
            <a:avLst/>
          </a:prstGeom>
          <a:solidFill>
            <a:srgbClr val="112240"/>
          </a:solidFill>
          <a:ln w="9525">
            <a:solidFill>
              <a:srgbClr val="1E3A5F"/>
            </a:solidFill>
            <a:prstDash val="solid"/>
          </a:ln>
          <a:effectLst>
            <a:outerShdw blurRad="101600" dist="38100" dir="8100000" algn="bl" rotWithShape="0">
              <a:srgbClr val="000000">
                <a:alpha val="1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548640" y="1188720"/>
            <a:ext cx="347472" cy="347472"/>
          </a:xfrm>
          <a:prstGeom prst="rect">
            <a:avLst/>
          </a:prstGeom>
        </p:spPr>
      </p:pic>
      <p:sp>
        <p:nvSpPr>
          <p:cNvPr id="8" name="Text 5"/>
          <p:cNvSpPr/>
          <p:nvPr/>
        </p:nvSpPr>
        <p:spPr>
          <a:xfrm>
            <a:off x="987552" y="1207008"/>
            <a:ext cx="4206240" cy="329184"/>
          </a:xfrm>
          <a:prstGeom prst="rect">
            <a:avLst/>
          </a:prstGeom>
          <a:noFill/>
          <a:ln/>
        </p:spPr>
        <p:txBody>
          <a:bodyPr wrap="square" lIns="0" tIns="0" rIns="0" bIns="0" rtlCol="0" anchor="ctr"/>
          <a:lstStyle/>
          <a:p>
            <a:pPr marL="0" indent="0">
              <a:buNone/>
            </a:pPr>
            <a:r>
              <a:rPr lang="en-US" sz="1500" b="1" dirty="0">
                <a:solidFill>
                  <a:srgbClr val="C9A84C"/>
                </a:solidFill>
                <a:latin typeface="Calibri" pitchFamily="34" charset="0"/>
                <a:ea typeface="Calibri" pitchFamily="34" charset="-122"/>
                <a:cs typeface="Calibri" pitchFamily="34" charset="-120"/>
              </a:rPr>
              <a:t>About PER</a:t>
            </a:r>
            <a:endParaRPr lang="en-US" sz="1500" dirty="0"/>
          </a:p>
        </p:txBody>
      </p:sp>
      <p:sp>
        <p:nvSpPr>
          <p:cNvPr id="9" name="Text 6"/>
          <p:cNvSpPr/>
          <p:nvPr/>
        </p:nvSpPr>
        <p:spPr>
          <a:xfrm>
            <a:off x="548640" y="1609344"/>
            <a:ext cx="4663440" cy="822960"/>
          </a:xfrm>
          <a:prstGeom prst="rect">
            <a:avLst/>
          </a:prstGeom>
          <a:noFill/>
          <a:ln/>
        </p:spPr>
        <p:txBody>
          <a:bodyPr wrap="square" lIns="0" tIns="0" rIns="0" bIns="0" rtlCol="0" anchor="ctr"/>
          <a:lstStyle/>
          <a:p>
            <a:pPr marL="0" indent="0">
              <a:lnSpc>
                <a:spcPct val="135000"/>
              </a:lnSpc>
              <a:buNone/>
            </a:pPr>
            <a:r>
              <a:rPr lang="en-US" sz="1250" dirty="0">
                <a:solidFill>
                  <a:srgbClr val="F0F4FF"/>
                </a:solidFill>
                <a:latin typeface="Calibri" pitchFamily="34" charset="0"/>
                <a:ea typeface="Calibri" pitchFamily="34" charset="-122"/>
                <a:cs typeface="Calibri" pitchFamily="34" charset="-120"/>
              </a:rPr>
              <a:t>PER was created by ESPN's John Hollinger to summarize everything a player does — scoring, rebounding, assists, steals, blocks, and turnovers — into a single number. League average is always 15.0.</a:t>
            </a:r>
            <a:endParaRPr lang="en-US" sz="1250" dirty="0"/>
          </a:p>
        </p:txBody>
      </p:sp>
      <p:sp>
        <p:nvSpPr>
          <p:cNvPr id="10" name="Shape 7"/>
          <p:cNvSpPr/>
          <p:nvPr/>
        </p:nvSpPr>
        <p:spPr>
          <a:xfrm>
            <a:off x="548640" y="2505456"/>
            <a:ext cx="4663440" cy="22860"/>
          </a:xfrm>
          <a:prstGeom prst="rect">
            <a:avLst/>
          </a:prstGeom>
          <a:solidFill>
            <a:srgbClr val="1E3A5F"/>
          </a:solidFill>
          <a:ln w="12700">
            <a:solidFill>
              <a:srgbClr val="1E3A5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548640" y="2596896"/>
            <a:ext cx="329184" cy="329184"/>
          </a:xfrm>
          <a:prstGeom prst="rect">
            <a:avLst/>
          </a:prstGeom>
        </p:spPr>
      </p:pic>
      <p:sp>
        <p:nvSpPr>
          <p:cNvPr id="12" name="Text 8"/>
          <p:cNvSpPr/>
          <p:nvPr/>
        </p:nvSpPr>
        <p:spPr>
          <a:xfrm>
            <a:off x="969264" y="2615184"/>
            <a:ext cx="4206240" cy="310896"/>
          </a:xfrm>
          <a:prstGeom prst="rect">
            <a:avLst/>
          </a:prstGeom>
          <a:noFill/>
          <a:ln/>
        </p:spPr>
        <p:txBody>
          <a:bodyPr wrap="square" lIns="0" tIns="0" rIns="0" bIns="0" rtlCol="0" anchor="ctr"/>
          <a:lstStyle/>
          <a:p>
            <a:pPr marL="0" indent="0">
              <a:buNone/>
            </a:pPr>
            <a:r>
              <a:rPr lang="en-US" sz="1500" b="1" dirty="0">
                <a:solidFill>
                  <a:srgbClr val="C9A84C"/>
                </a:solidFill>
                <a:latin typeface="Calibri" pitchFamily="34" charset="0"/>
                <a:ea typeface="Calibri" pitchFamily="34" charset="-122"/>
                <a:cs typeface="Calibri" pitchFamily="34" charset="-120"/>
              </a:rPr>
              <a:t>Why It Matters</a:t>
            </a:r>
            <a:endParaRPr lang="en-US" sz="1500" dirty="0"/>
          </a:p>
        </p:txBody>
      </p:sp>
      <p:sp>
        <p:nvSpPr>
          <p:cNvPr id="13" name="Text 9"/>
          <p:cNvSpPr/>
          <p:nvPr/>
        </p:nvSpPr>
        <p:spPr>
          <a:xfrm>
            <a:off x="594360" y="2999232"/>
            <a:ext cx="4663440" cy="868680"/>
          </a:xfrm>
          <a:prstGeom prst="rect">
            <a:avLst/>
          </a:prstGeom>
          <a:noFill/>
          <a:ln/>
        </p:spPr>
        <p:txBody>
          <a:bodyPr wrap="square" lIns="0" tIns="0" rIns="0" bIns="0" rtlCol="0" anchor="ctr"/>
          <a:lstStyle/>
          <a:p>
            <a:pPr marL="342900" indent="-342900">
              <a:spcAft>
                <a:spcPts val="400"/>
              </a:spcAft>
              <a:buSzPct val="100000"/>
              <a:buChar char="•"/>
            </a:pPr>
            <a:r>
              <a:rPr lang="en-US" sz="1250" dirty="0">
                <a:solidFill>
                  <a:srgbClr val="F0F4FF"/>
                </a:solidFill>
                <a:latin typeface="Calibri" pitchFamily="34" charset="0"/>
                <a:ea typeface="Calibri" pitchFamily="34" charset="-122"/>
                <a:cs typeface="Calibri" pitchFamily="34" charset="-120"/>
              </a:rPr>
              <a:t>Lets teams compare players across different roles and minutes</a:t>
            </a:r>
            <a:endParaRPr lang="en-US" sz="1250" dirty="0"/>
          </a:p>
          <a:p>
            <a:pPr marL="342900" indent="-342900">
              <a:spcAft>
                <a:spcPts val="400"/>
              </a:spcAft>
              <a:buSzPct val="100000"/>
              <a:buChar char="•"/>
            </a:pPr>
            <a:r>
              <a:rPr lang="en-US" sz="1250" dirty="0">
                <a:solidFill>
                  <a:srgbClr val="F0F4FF"/>
                </a:solidFill>
                <a:latin typeface="Calibri" pitchFamily="34" charset="0"/>
                <a:ea typeface="Calibri" pitchFamily="34" charset="-122"/>
                <a:cs typeface="Calibri" pitchFamily="34" charset="-120"/>
              </a:rPr>
              <a:t>Used by front offices, analysts, and sports media worldwide</a:t>
            </a:r>
            <a:endParaRPr lang="en-US" sz="1250" dirty="0"/>
          </a:p>
          <a:p>
            <a:pPr marL="342900" indent="-342900">
              <a:spcAft>
                <a:spcPts val="400"/>
              </a:spcAft>
              <a:buSzPct val="100000"/>
              <a:buChar char="•"/>
            </a:pPr>
            <a:r>
              <a:rPr lang="en-US" sz="1250" dirty="0">
                <a:solidFill>
                  <a:srgbClr val="F0F4FF"/>
                </a:solidFill>
                <a:latin typeface="Calibri" pitchFamily="34" charset="0"/>
                <a:ea typeface="Calibri" pitchFamily="34" charset="-122"/>
                <a:cs typeface="Calibri" pitchFamily="34" charset="-120"/>
              </a:rPr>
              <a:t>One number captures overall player impact per minute played</a:t>
            </a:r>
            <a:endParaRPr lang="en-US" sz="1250" dirty="0"/>
          </a:p>
        </p:txBody>
      </p:sp>
      <p:sp>
        <p:nvSpPr>
          <p:cNvPr id="14" name="Shape 10"/>
          <p:cNvSpPr/>
          <p:nvPr/>
        </p:nvSpPr>
        <p:spPr>
          <a:xfrm>
            <a:off x="5669280" y="1051560"/>
            <a:ext cx="3154680" cy="3840480"/>
          </a:xfrm>
          <a:prstGeom prst="rect">
            <a:avLst/>
          </a:prstGeom>
          <a:solidFill>
            <a:srgbClr val="112240"/>
          </a:solidFill>
          <a:ln w="9525">
            <a:solidFill>
              <a:srgbClr val="1E3A5F"/>
            </a:solidFill>
            <a:prstDash val="solid"/>
          </a:ln>
          <a:effectLst>
            <a:outerShdw blurRad="101600" dist="38100" dir="8100000" algn="bl" rotWithShape="0">
              <a:srgbClr val="000000">
                <a:alpha val="18000"/>
              </a:srgbClr>
            </a:outerShdw>
          </a:effectLst>
        </p:spPr>
        <p:txBody>
          <a:bodyPr/>
          <a:lstStyle/>
          <a:p>
            <a:endParaRPr lang="en-US"/>
          </a:p>
        </p:txBody>
      </p:sp>
      <p:sp>
        <p:nvSpPr>
          <p:cNvPr id="15" name="Text 11"/>
          <p:cNvSpPr/>
          <p:nvPr/>
        </p:nvSpPr>
        <p:spPr>
          <a:xfrm>
            <a:off x="5806440" y="1170432"/>
            <a:ext cx="2880360" cy="292608"/>
          </a:xfrm>
          <a:prstGeom prst="rect">
            <a:avLst/>
          </a:prstGeom>
          <a:noFill/>
          <a:ln/>
        </p:spPr>
        <p:txBody>
          <a:bodyPr wrap="square" lIns="0" tIns="0" rIns="0" bIns="0" rtlCol="0" anchor="ctr"/>
          <a:lstStyle/>
          <a:p>
            <a:pPr marL="0" indent="0">
              <a:buNone/>
            </a:pPr>
            <a:r>
              <a:rPr lang="en-US" sz="1000" b="1" kern="0" spc="300" dirty="0">
                <a:solidFill>
                  <a:srgbClr val="C9A84C"/>
                </a:solidFill>
                <a:latin typeface="Calibri" pitchFamily="34" charset="0"/>
                <a:ea typeface="Calibri" pitchFamily="34" charset="-122"/>
                <a:cs typeface="Calibri" pitchFamily="34" charset="-120"/>
              </a:rPr>
              <a:t>PER BENCHMARKS</a:t>
            </a:r>
            <a:endParaRPr lang="en-US" sz="1000" dirty="0"/>
          </a:p>
        </p:txBody>
      </p:sp>
      <p:sp>
        <p:nvSpPr>
          <p:cNvPr id="16" name="Shape 12"/>
          <p:cNvSpPr/>
          <p:nvPr/>
        </p:nvSpPr>
        <p:spPr>
          <a:xfrm>
            <a:off x="5806440" y="1572768"/>
            <a:ext cx="713232" cy="347472"/>
          </a:xfrm>
          <a:prstGeom prst="rect">
            <a:avLst/>
          </a:prstGeom>
          <a:solidFill>
            <a:srgbClr val="0A1628"/>
          </a:solidFill>
          <a:ln w="19050">
            <a:solidFill>
              <a:srgbClr val="F5A623"/>
            </a:solidFill>
            <a:prstDash val="solid"/>
          </a:ln>
        </p:spPr>
        <p:txBody>
          <a:bodyPr/>
          <a:lstStyle/>
          <a:p>
            <a:endParaRPr lang="en-US"/>
          </a:p>
        </p:txBody>
      </p:sp>
      <p:sp>
        <p:nvSpPr>
          <p:cNvPr id="17" name="Text 13"/>
          <p:cNvSpPr/>
          <p:nvPr/>
        </p:nvSpPr>
        <p:spPr>
          <a:xfrm>
            <a:off x="5806440" y="1572768"/>
            <a:ext cx="713232" cy="347472"/>
          </a:xfrm>
          <a:prstGeom prst="rect">
            <a:avLst/>
          </a:prstGeom>
          <a:noFill/>
          <a:ln/>
        </p:spPr>
        <p:txBody>
          <a:bodyPr wrap="square" lIns="0" tIns="0" rIns="0" bIns="0" rtlCol="0" anchor="ctr"/>
          <a:lstStyle/>
          <a:p>
            <a:pPr marL="0" indent="0" algn="ctr">
              <a:buNone/>
            </a:pPr>
            <a:r>
              <a:rPr lang="en-US" sz="1200" b="1" dirty="0">
                <a:solidFill>
                  <a:srgbClr val="F5A623"/>
                </a:solidFill>
                <a:latin typeface="Calibri" pitchFamily="34" charset="0"/>
                <a:ea typeface="Calibri" pitchFamily="34" charset="-122"/>
                <a:cs typeface="Calibri" pitchFamily="34" charset="-120"/>
              </a:rPr>
              <a:t>35+</a:t>
            </a:r>
            <a:endParaRPr lang="en-US" sz="1200" dirty="0"/>
          </a:p>
        </p:txBody>
      </p:sp>
      <p:sp>
        <p:nvSpPr>
          <p:cNvPr id="18" name="Text 14"/>
          <p:cNvSpPr/>
          <p:nvPr/>
        </p:nvSpPr>
        <p:spPr>
          <a:xfrm>
            <a:off x="6601968" y="1618488"/>
            <a:ext cx="2103120" cy="274320"/>
          </a:xfrm>
          <a:prstGeom prst="rect">
            <a:avLst/>
          </a:prstGeom>
          <a:noFill/>
          <a:ln/>
        </p:spPr>
        <p:txBody>
          <a:bodyPr wrap="square" lIns="0" tIns="0" rIns="0" bIns="0" rtlCol="0" anchor="ctr"/>
          <a:lstStyle/>
          <a:p>
            <a:pPr marL="0" indent="0">
              <a:buNone/>
            </a:pPr>
            <a:r>
              <a:rPr lang="en-US" sz="1250" dirty="0">
                <a:solidFill>
                  <a:srgbClr val="F0F4FF"/>
                </a:solidFill>
                <a:latin typeface="Calibri" pitchFamily="34" charset="0"/>
                <a:ea typeface="Calibri" pitchFamily="34" charset="-122"/>
                <a:cs typeface="Calibri" pitchFamily="34" charset="-120"/>
              </a:rPr>
              <a:t>All-Time Great</a:t>
            </a:r>
            <a:endParaRPr lang="en-US" sz="1250" dirty="0"/>
          </a:p>
        </p:txBody>
      </p:sp>
      <p:sp>
        <p:nvSpPr>
          <p:cNvPr id="19" name="Shape 15"/>
          <p:cNvSpPr/>
          <p:nvPr/>
        </p:nvSpPr>
        <p:spPr>
          <a:xfrm>
            <a:off x="5806440" y="2084832"/>
            <a:ext cx="713232" cy="347472"/>
          </a:xfrm>
          <a:prstGeom prst="rect">
            <a:avLst/>
          </a:prstGeom>
          <a:solidFill>
            <a:srgbClr val="0A1628"/>
          </a:solidFill>
          <a:ln w="19050">
            <a:solidFill>
              <a:srgbClr val="E8C96A"/>
            </a:solidFill>
            <a:prstDash val="solid"/>
          </a:ln>
        </p:spPr>
        <p:txBody>
          <a:bodyPr/>
          <a:lstStyle/>
          <a:p>
            <a:endParaRPr lang="en-US"/>
          </a:p>
        </p:txBody>
      </p:sp>
      <p:sp>
        <p:nvSpPr>
          <p:cNvPr id="20" name="Text 16"/>
          <p:cNvSpPr/>
          <p:nvPr/>
        </p:nvSpPr>
        <p:spPr>
          <a:xfrm>
            <a:off x="5806440" y="2084832"/>
            <a:ext cx="713232" cy="347472"/>
          </a:xfrm>
          <a:prstGeom prst="rect">
            <a:avLst/>
          </a:prstGeom>
          <a:noFill/>
          <a:ln/>
        </p:spPr>
        <p:txBody>
          <a:bodyPr wrap="square" lIns="0" tIns="0" rIns="0" bIns="0" rtlCol="0" anchor="ctr"/>
          <a:lstStyle/>
          <a:p>
            <a:pPr marL="0" indent="0" algn="ctr">
              <a:buNone/>
            </a:pPr>
            <a:r>
              <a:rPr lang="en-US" sz="1200" b="1" dirty="0">
                <a:solidFill>
                  <a:srgbClr val="E8C96A"/>
                </a:solidFill>
                <a:latin typeface="Calibri" pitchFamily="34" charset="0"/>
                <a:ea typeface="Calibri" pitchFamily="34" charset="-122"/>
                <a:cs typeface="Calibri" pitchFamily="34" charset="-120"/>
              </a:rPr>
              <a:t>27-35</a:t>
            </a:r>
            <a:endParaRPr lang="en-US" sz="1200" dirty="0"/>
          </a:p>
        </p:txBody>
      </p:sp>
      <p:sp>
        <p:nvSpPr>
          <p:cNvPr id="21" name="Text 17"/>
          <p:cNvSpPr/>
          <p:nvPr/>
        </p:nvSpPr>
        <p:spPr>
          <a:xfrm>
            <a:off x="6601968" y="2130552"/>
            <a:ext cx="2103120" cy="274320"/>
          </a:xfrm>
          <a:prstGeom prst="rect">
            <a:avLst/>
          </a:prstGeom>
          <a:noFill/>
          <a:ln/>
        </p:spPr>
        <p:txBody>
          <a:bodyPr wrap="square" lIns="0" tIns="0" rIns="0" bIns="0" rtlCol="0" anchor="ctr"/>
          <a:lstStyle/>
          <a:p>
            <a:pPr marL="0" indent="0">
              <a:buNone/>
            </a:pPr>
            <a:r>
              <a:rPr lang="en-US" sz="1250" dirty="0">
                <a:solidFill>
                  <a:srgbClr val="F0F4FF"/>
                </a:solidFill>
                <a:latin typeface="Calibri" pitchFamily="34" charset="0"/>
                <a:ea typeface="Calibri" pitchFamily="34" charset="-122"/>
                <a:cs typeface="Calibri" pitchFamily="34" charset="-120"/>
              </a:rPr>
              <a:t>MVP Candidate</a:t>
            </a:r>
            <a:endParaRPr lang="en-US" sz="1250" dirty="0"/>
          </a:p>
        </p:txBody>
      </p:sp>
      <p:sp>
        <p:nvSpPr>
          <p:cNvPr id="22" name="Shape 18"/>
          <p:cNvSpPr/>
          <p:nvPr/>
        </p:nvSpPr>
        <p:spPr>
          <a:xfrm>
            <a:off x="5806440" y="2596896"/>
            <a:ext cx="713232" cy="347472"/>
          </a:xfrm>
          <a:prstGeom prst="rect">
            <a:avLst/>
          </a:prstGeom>
          <a:solidFill>
            <a:srgbClr val="0A1628"/>
          </a:solidFill>
          <a:ln w="19050">
            <a:solidFill>
              <a:srgbClr val="1ABC9C"/>
            </a:solidFill>
            <a:prstDash val="solid"/>
          </a:ln>
        </p:spPr>
        <p:txBody>
          <a:bodyPr/>
          <a:lstStyle/>
          <a:p>
            <a:endParaRPr lang="en-US"/>
          </a:p>
        </p:txBody>
      </p:sp>
      <p:sp>
        <p:nvSpPr>
          <p:cNvPr id="23" name="Text 19"/>
          <p:cNvSpPr/>
          <p:nvPr/>
        </p:nvSpPr>
        <p:spPr>
          <a:xfrm>
            <a:off x="5806440" y="2596896"/>
            <a:ext cx="713232" cy="347472"/>
          </a:xfrm>
          <a:prstGeom prst="rect">
            <a:avLst/>
          </a:prstGeom>
          <a:noFill/>
          <a:ln/>
        </p:spPr>
        <p:txBody>
          <a:bodyPr wrap="square" lIns="0" tIns="0" rIns="0" bIns="0" rtlCol="0" anchor="ctr"/>
          <a:lstStyle/>
          <a:p>
            <a:pPr marL="0" indent="0" algn="ctr">
              <a:buNone/>
            </a:pPr>
            <a:r>
              <a:rPr lang="en-US" sz="1200" b="1" dirty="0">
                <a:solidFill>
                  <a:srgbClr val="1ABC9C"/>
                </a:solidFill>
                <a:latin typeface="Calibri" pitchFamily="34" charset="0"/>
                <a:ea typeface="Calibri" pitchFamily="34" charset="-122"/>
                <a:cs typeface="Calibri" pitchFamily="34" charset="-120"/>
              </a:rPr>
              <a:t>20-27</a:t>
            </a:r>
            <a:endParaRPr lang="en-US" sz="1200" dirty="0"/>
          </a:p>
        </p:txBody>
      </p:sp>
      <p:sp>
        <p:nvSpPr>
          <p:cNvPr id="24" name="Text 20"/>
          <p:cNvSpPr/>
          <p:nvPr/>
        </p:nvSpPr>
        <p:spPr>
          <a:xfrm>
            <a:off x="6601968" y="2642616"/>
            <a:ext cx="2103120" cy="274320"/>
          </a:xfrm>
          <a:prstGeom prst="rect">
            <a:avLst/>
          </a:prstGeom>
          <a:noFill/>
          <a:ln/>
        </p:spPr>
        <p:txBody>
          <a:bodyPr wrap="square" lIns="0" tIns="0" rIns="0" bIns="0" rtlCol="0" anchor="ctr"/>
          <a:lstStyle/>
          <a:p>
            <a:pPr marL="0" indent="0">
              <a:buNone/>
            </a:pPr>
            <a:r>
              <a:rPr lang="en-US" sz="1250" dirty="0">
                <a:solidFill>
                  <a:srgbClr val="F0F4FF"/>
                </a:solidFill>
                <a:latin typeface="Calibri" pitchFamily="34" charset="0"/>
                <a:ea typeface="Calibri" pitchFamily="34" charset="-122"/>
                <a:cs typeface="Calibri" pitchFamily="34" charset="-120"/>
              </a:rPr>
              <a:t>All-Star Level</a:t>
            </a:r>
            <a:endParaRPr lang="en-US" sz="1250" dirty="0"/>
          </a:p>
        </p:txBody>
      </p:sp>
      <p:sp>
        <p:nvSpPr>
          <p:cNvPr id="25" name="Shape 21"/>
          <p:cNvSpPr/>
          <p:nvPr/>
        </p:nvSpPr>
        <p:spPr>
          <a:xfrm>
            <a:off x="5806440" y="3108960"/>
            <a:ext cx="713232" cy="347472"/>
          </a:xfrm>
          <a:prstGeom prst="rect">
            <a:avLst/>
          </a:prstGeom>
          <a:solidFill>
            <a:srgbClr val="0A1628"/>
          </a:solidFill>
          <a:ln w="19050">
            <a:solidFill>
              <a:srgbClr val="5DADE2"/>
            </a:solidFill>
            <a:prstDash val="solid"/>
          </a:ln>
        </p:spPr>
        <p:txBody>
          <a:bodyPr/>
          <a:lstStyle/>
          <a:p>
            <a:endParaRPr lang="en-US"/>
          </a:p>
        </p:txBody>
      </p:sp>
      <p:sp>
        <p:nvSpPr>
          <p:cNvPr id="26" name="Text 22"/>
          <p:cNvSpPr/>
          <p:nvPr/>
        </p:nvSpPr>
        <p:spPr>
          <a:xfrm>
            <a:off x="5806440" y="3108960"/>
            <a:ext cx="713232" cy="347472"/>
          </a:xfrm>
          <a:prstGeom prst="rect">
            <a:avLst/>
          </a:prstGeom>
          <a:noFill/>
          <a:ln/>
        </p:spPr>
        <p:txBody>
          <a:bodyPr wrap="square" lIns="0" tIns="0" rIns="0" bIns="0" rtlCol="0" anchor="ctr"/>
          <a:lstStyle/>
          <a:p>
            <a:pPr marL="0" indent="0" algn="ctr">
              <a:buNone/>
            </a:pPr>
            <a:r>
              <a:rPr lang="en-US" sz="1200" b="1" dirty="0">
                <a:solidFill>
                  <a:srgbClr val="5DADE2"/>
                </a:solidFill>
                <a:latin typeface="Calibri" pitchFamily="34" charset="0"/>
                <a:ea typeface="Calibri" pitchFamily="34" charset="-122"/>
                <a:cs typeface="Calibri" pitchFamily="34" charset="-120"/>
              </a:rPr>
              <a:t>15-20</a:t>
            </a:r>
            <a:endParaRPr lang="en-US" sz="1200" dirty="0"/>
          </a:p>
        </p:txBody>
      </p:sp>
      <p:sp>
        <p:nvSpPr>
          <p:cNvPr id="27" name="Text 23"/>
          <p:cNvSpPr/>
          <p:nvPr/>
        </p:nvSpPr>
        <p:spPr>
          <a:xfrm>
            <a:off x="6601968" y="3154680"/>
            <a:ext cx="2103120" cy="274320"/>
          </a:xfrm>
          <a:prstGeom prst="rect">
            <a:avLst/>
          </a:prstGeom>
          <a:noFill/>
          <a:ln/>
        </p:spPr>
        <p:txBody>
          <a:bodyPr wrap="square" lIns="0" tIns="0" rIns="0" bIns="0" rtlCol="0" anchor="ctr"/>
          <a:lstStyle/>
          <a:p>
            <a:pPr marL="0" indent="0">
              <a:buNone/>
            </a:pPr>
            <a:r>
              <a:rPr lang="en-US" sz="1250" dirty="0">
                <a:solidFill>
                  <a:srgbClr val="F0F4FF"/>
                </a:solidFill>
                <a:latin typeface="Calibri" pitchFamily="34" charset="0"/>
                <a:ea typeface="Calibri" pitchFamily="34" charset="-122"/>
                <a:cs typeface="Calibri" pitchFamily="34" charset="-120"/>
              </a:rPr>
              <a:t>Solid Starter</a:t>
            </a:r>
            <a:endParaRPr lang="en-US" sz="1250" dirty="0"/>
          </a:p>
        </p:txBody>
      </p:sp>
      <p:sp>
        <p:nvSpPr>
          <p:cNvPr id="28" name="Shape 24"/>
          <p:cNvSpPr/>
          <p:nvPr/>
        </p:nvSpPr>
        <p:spPr>
          <a:xfrm>
            <a:off x="5806440" y="3621024"/>
            <a:ext cx="713232" cy="347472"/>
          </a:xfrm>
          <a:prstGeom prst="rect">
            <a:avLst/>
          </a:prstGeom>
          <a:solidFill>
            <a:srgbClr val="0A1628"/>
          </a:solidFill>
          <a:ln w="19050">
            <a:solidFill>
              <a:srgbClr val="85929E"/>
            </a:solidFill>
            <a:prstDash val="solid"/>
          </a:ln>
        </p:spPr>
        <p:txBody>
          <a:bodyPr/>
          <a:lstStyle/>
          <a:p>
            <a:endParaRPr lang="en-US"/>
          </a:p>
        </p:txBody>
      </p:sp>
      <p:sp>
        <p:nvSpPr>
          <p:cNvPr id="29" name="Text 25"/>
          <p:cNvSpPr/>
          <p:nvPr/>
        </p:nvSpPr>
        <p:spPr>
          <a:xfrm>
            <a:off x="5806440" y="3621024"/>
            <a:ext cx="713232" cy="347472"/>
          </a:xfrm>
          <a:prstGeom prst="rect">
            <a:avLst/>
          </a:prstGeom>
          <a:noFill/>
          <a:ln/>
        </p:spPr>
        <p:txBody>
          <a:bodyPr wrap="square" lIns="0" tIns="0" rIns="0" bIns="0" rtlCol="0" anchor="ctr"/>
          <a:lstStyle/>
          <a:p>
            <a:pPr marL="0" indent="0" algn="ctr">
              <a:buNone/>
            </a:pPr>
            <a:r>
              <a:rPr lang="en-US" sz="1200" b="1" dirty="0">
                <a:solidFill>
                  <a:srgbClr val="85929E"/>
                </a:solidFill>
                <a:latin typeface="Calibri" pitchFamily="34" charset="0"/>
                <a:ea typeface="Calibri" pitchFamily="34" charset="-122"/>
                <a:cs typeface="Calibri" pitchFamily="34" charset="-120"/>
              </a:rPr>
              <a:t>10-15</a:t>
            </a:r>
            <a:endParaRPr lang="en-US" sz="1200" dirty="0"/>
          </a:p>
        </p:txBody>
      </p:sp>
      <p:sp>
        <p:nvSpPr>
          <p:cNvPr id="30" name="Text 26"/>
          <p:cNvSpPr/>
          <p:nvPr/>
        </p:nvSpPr>
        <p:spPr>
          <a:xfrm>
            <a:off x="6601968" y="3666744"/>
            <a:ext cx="2103120" cy="274320"/>
          </a:xfrm>
          <a:prstGeom prst="rect">
            <a:avLst/>
          </a:prstGeom>
          <a:noFill/>
          <a:ln/>
        </p:spPr>
        <p:txBody>
          <a:bodyPr wrap="square" lIns="0" tIns="0" rIns="0" bIns="0" rtlCol="0" anchor="ctr"/>
          <a:lstStyle/>
          <a:p>
            <a:pPr marL="0" indent="0">
              <a:buNone/>
            </a:pPr>
            <a:r>
              <a:rPr lang="en-US" sz="1250" dirty="0">
                <a:solidFill>
                  <a:srgbClr val="F0F4FF"/>
                </a:solidFill>
                <a:latin typeface="Calibri" pitchFamily="34" charset="0"/>
                <a:ea typeface="Calibri" pitchFamily="34" charset="-122"/>
                <a:cs typeface="Calibri" pitchFamily="34" charset="-120"/>
              </a:rPr>
              <a:t>Role Player</a:t>
            </a:r>
            <a:endParaRPr lang="en-US" sz="1250" dirty="0"/>
          </a:p>
        </p:txBody>
      </p:sp>
      <p:sp>
        <p:nvSpPr>
          <p:cNvPr id="31" name="Shape 27"/>
          <p:cNvSpPr/>
          <p:nvPr/>
        </p:nvSpPr>
        <p:spPr>
          <a:xfrm>
            <a:off x="5806440" y="4133088"/>
            <a:ext cx="713232" cy="347472"/>
          </a:xfrm>
          <a:prstGeom prst="rect">
            <a:avLst/>
          </a:prstGeom>
          <a:solidFill>
            <a:srgbClr val="0A1628"/>
          </a:solidFill>
          <a:ln w="19050">
            <a:solidFill>
              <a:srgbClr val="E74C3C"/>
            </a:solidFill>
            <a:prstDash val="solid"/>
          </a:ln>
        </p:spPr>
        <p:txBody>
          <a:bodyPr/>
          <a:lstStyle/>
          <a:p>
            <a:endParaRPr lang="en-US"/>
          </a:p>
        </p:txBody>
      </p:sp>
      <p:sp>
        <p:nvSpPr>
          <p:cNvPr id="32" name="Text 28"/>
          <p:cNvSpPr/>
          <p:nvPr/>
        </p:nvSpPr>
        <p:spPr>
          <a:xfrm>
            <a:off x="5806440" y="4133088"/>
            <a:ext cx="713232" cy="347472"/>
          </a:xfrm>
          <a:prstGeom prst="rect">
            <a:avLst/>
          </a:prstGeom>
          <a:noFill/>
          <a:ln/>
        </p:spPr>
        <p:txBody>
          <a:bodyPr wrap="square" lIns="0" tIns="0" rIns="0" bIns="0" rtlCol="0" anchor="ctr"/>
          <a:lstStyle/>
          <a:p>
            <a:pPr marL="0" indent="0" algn="ctr">
              <a:buNone/>
            </a:pPr>
            <a:r>
              <a:rPr lang="en-US" sz="1200" b="1" dirty="0">
                <a:solidFill>
                  <a:srgbClr val="E74C3C"/>
                </a:solidFill>
                <a:latin typeface="Calibri" pitchFamily="34" charset="0"/>
                <a:ea typeface="Calibri" pitchFamily="34" charset="-122"/>
                <a:cs typeface="Calibri" pitchFamily="34" charset="-120"/>
              </a:rPr>
              <a:t>&lt; 10</a:t>
            </a:r>
            <a:endParaRPr lang="en-US" sz="1200" dirty="0"/>
          </a:p>
        </p:txBody>
      </p:sp>
      <p:sp>
        <p:nvSpPr>
          <p:cNvPr id="33" name="Text 29"/>
          <p:cNvSpPr/>
          <p:nvPr/>
        </p:nvSpPr>
        <p:spPr>
          <a:xfrm>
            <a:off x="6601968" y="4178808"/>
            <a:ext cx="2103120" cy="274320"/>
          </a:xfrm>
          <a:prstGeom prst="rect">
            <a:avLst/>
          </a:prstGeom>
          <a:noFill/>
          <a:ln/>
        </p:spPr>
        <p:txBody>
          <a:bodyPr wrap="square" lIns="0" tIns="0" rIns="0" bIns="0" rtlCol="0" anchor="ctr"/>
          <a:lstStyle/>
          <a:p>
            <a:pPr marL="0" indent="0">
              <a:buNone/>
            </a:pPr>
            <a:r>
              <a:rPr lang="en-US" sz="1250" dirty="0">
                <a:solidFill>
                  <a:srgbClr val="F0F4FF"/>
                </a:solidFill>
                <a:latin typeface="Calibri" pitchFamily="34" charset="0"/>
                <a:ea typeface="Calibri" pitchFamily="34" charset="-122"/>
                <a:cs typeface="Calibri" pitchFamily="34" charset="-120"/>
              </a:rPr>
              <a:t>Bench / Fringe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txBody>
          <a:bodyPr/>
          <a:lstStyle/>
          <a:p>
            <a:endParaRPr lang="en-US"/>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Data &amp; Methodology</a:t>
            </a:r>
            <a:endParaRPr lang="en-US" sz="2800" dirty="0"/>
          </a:p>
        </p:txBody>
      </p:sp>
      <p:sp>
        <p:nvSpPr>
          <p:cNvPr id="4" name="Text 2"/>
          <p:cNvSpPr/>
          <p:nvPr/>
        </p:nvSpPr>
        <p:spPr>
          <a:xfrm>
            <a:off x="457200" y="713232"/>
            <a:ext cx="8229600" cy="292608"/>
          </a:xfrm>
          <a:prstGeom prst="rect">
            <a:avLst/>
          </a:prstGeom>
          <a:noFill/>
          <a:ln/>
        </p:spPr>
        <p:txBody>
          <a:bodyPr wrap="square" lIns="0" tIns="0" rIns="0" bIns="0" rtlCol="0" anchor="ctr"/>
          <a:lstStyle/>
          <a:p>
            <a:pPr marL="0" indent="0">
              <a:buNone/>
            </a:pPr>
            <a:r>
              <a:rPr lang="en-US" sz="1300" i="1" dirty="0">
                <a:solidFill>
                  <a:srgbClr val="C9A84C"/>
                </a:solidFill>
                <a:latin typeface="Calibri" pitchFamily="34" charset="0"/>
                <a:ea typeface="Calibri" pitchFamily="34" charset="-122"/>
                <a:cs typeface="Calibri" pitchFamily="34" charset="-120"/>
              </a:rPr>
              <a:t>Source · Variables · Transformations</a:t>
            </a:r>
            <a:endParaRPr lang="en-US" sz="1300" dirty="0"/>
          </a:p>
        </p:txBody>
      </p:sp>
      <p:sp>
        <p:nvSpPr>
          <p:cNvPr id="5" name="Text 3"/>
          <p:cNvSpPr/>
          <p:nvPr/>
        </p:nvSpPr>
        <p:spPr>
          <a:xfrm>
            <a:off x="8046720" y="4846320"/>
            <a:ext cx="822960" cy="228600"/>
          </a:xfrm>
          <a:prstGeom prst="rect">
            <a:avLst/>
          </a:prstGeom>
          <a:noFill/>
          <a:ln/>
        </p:spPr>
        <p:txBody>
          <a:bodyPr wrap="square" lIns="0" tIns="0" rIns="0" bIns="0" rtlCol="0" anchor="ctr"/>
          <a:lstStyle/>
          <a:p>
            <a:pPr marL="0" indent="0" algn="r">
              <a:buNone/>
            </a:pPr>
            <a:r>
              <a:rPr lang="en-US" sz="900" dirty="0">
                <a:solidFill>
                  <a:srgbClr val="8FA3BF"/>
                </a:solidFill>
                <a:latin typeface="Calibri" pitchFamily="34" charset="0"/>
                <a:ea typeface="Calibri" pitchFamily="34" charset="-122"/>
                <a:cs typeface="Calibri" pitchFamily="34" charset="-120"/>
              </a:rPr>
              <a:t>3 / 8</a:t>
            </a:r>
            <a:endParaRPr lang="en-US" sz="900" dirty="0"/>
          </a:p>
        </p:txBody>
      </p:sp>
      <p:sp>
        <p:nvSpPr>
          <p:cNvPr id="6" name="Shape 4"/>
          <p:cNvSpPr/>
          <p:nvPr/>
        </p:nvSpPr>
        <p:spPr>
          <a:xfrm>
            <a:off x="365760" y="1097280"/>
            <a:ext cx="1828800" cy="914400"/>
          </a:xfrm>
          <a:prstGeom prst="rect">
            <a:avLst/>
          </a:prstGeom>
          <a:solidFill>
            <a:srgbClr val="112240"/>
          </a:solidFill>
          <a:ln w="19050">
            <a:solidFill>
              <a:srgbClr val="C9A84C"/>
            </a:solidFill>
            <a:prstDash val="solid"/>
          </a:ln>
          <a:effectLst>
            <a:outerShdw blurRad="101600" dist="38100" dir="8100000" algn="bl" rotWithShape="0">
              <a:srgbClr val="000000">
                <a:alpha val="18000"/>
              </a:srgbClr>
            </a:outerShdw>
          </a:effectLst>
        </p:spPr>
        <p:txBody>
          <a:bodyPr/>
          <a:lstStyle/>
          <a:p>
            <a:endParaRPr lang="en-US"/>
          </a:p>
        </p:txBody>
      </p:sp>
      <p:sp>
        <p:nvSpPr>
          <p:cNvPr id="7" name="Text 5"/>
          <p:cNvSpPr/>
          <p:nvPr/>
        </p:nvSpPr>
        <p:spPr>
          <a:xfrm>
            <a:off x="365760" y="1207008"/>
            <a:ext cx="182880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Calibri" pitchFamily="34" charset="0"/>
                <a:ea typeface="Calibri" pitchFamily="34" charset="-122"/>
                <a:cs typeface="Calibri" pitchFamily="34" charset="-120"/>
              </a:rPr>
              <a:t>50</a:t>
            </a:r>
            <a:endParaRPr lang="en-US" sz="3200" dirty="0"/>
          </a:p>
        </p:txBody>
      </p:sp>
      <p:sp>
        <p:nvSpPr>
          <p:cNvPr id="8" name="Text 6"/>
          <p:cNvSpPr/>
          <p:nvPr/>
        </p:nvSpPr>
        <p:spPr>
          <a:xfrm>
            <a:off x="365760" y="1627632"/>
            <a:ext cx="1828800" cy="347472"/>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Players Analyzed</a:t>
            </a:r>
            <a:endParaRPr lang="en-US" sz="1100" dirty="0"/>
          </a:p>
        </p:txBody>
      </p:sp>
      <p:sp>
        <p:nvSpPr>
          <p:cNvPr id="9" name="Shape 7"/>
          <p:cNvSpPr/>
          <p:nvPr/>
        </p:nvSpPr>
        <p:spPr>
          <a:xfrm>
            <a:off x="2331720" y="1097280"/>
            <a:ext cx="1828800" cy="914400"/>
          </a:xfrm>
          <a:prstGeom prst="rect">
            <a:avLst/>
          </a:prstGeom>
          <a:solidFill>
            <a:srgbClr val="112240"/>
          </a:solidFill>
          <a:ln w="19050">
            <a:solidFill>
              <a:srgbClr val="C9A84C"/>
            </a:solidFill>
            <a:prstDash val="solid"/>
          </a:ln>
          <a:effectLst>
            <a:outerShdw blurRad="101600" dist="38100" dir="8100000" algn="bl" rotWithShape="0">
              <a:srgbClr val="000000">
                <a:alpha val="18000"/>
              </a:srgbClr>
            </a:outerShdw>
          </a:effectLst>
        </p:spPr>
        <p:txBody>
          <a:bodyPr/>
          <a:lstStyle/>
          <a:p>
            <a:endParaRPr lang="en-US"/>
          </a:p>
        </p:txBody>
      </p:sp>
      <p:sp>
        <p:nvSpPr>
          <p:cNvPr id="10" name="Text 8"/>
          <p:cNvSpPr/>
          <p:nvPr/>
        </p:nvSpPr>
        <p:spPr>
          <a:xfrm>
            <a:off x="2331720" y="1207008"/>
            <a:ext cx="182880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Calibri" pitchFamily="34" charset="0"/>
                <a:ea typeface="Calibri" pitchFamily="34" charset="-122"/>
                <a:cs typeface="Calibri" pitchFamily="34" charset="-120"/>
              </a:rPr>
              <a:t>8</a:t>
            </a:r>
            <a:endParaRPr lang="en-US" sz="3200" dirty="0"/>
          </a:p>
        </p:txBody>
      </p:sp>
      <p:sp>
        <p:nvSpPr>
          <p:cNvPr id="11" name="Text 9"/>
          <p:cNvSpPr/>
          <p:nvPr/>
        </p:nvSpPr>
        <p:spPr>
          <a:xfrm>
            <a:off x="2331720" y="1627632"/>
            <a:ext cx="1828800" cy="347472"/>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Predictor Stats</a:t>
            </a:r>
            <a:endParaRPr lang="en-US" sz="1100" dirty="0"/>
          </a:p>
        </p:txBody>
      </p:sp>
      <p:sp>
        <p:nvSpPr>
          <p:cNvPr id="12" name="Shape 10"/>
          <p:cNvSpPr/>
          <p:nvPr/>
        </p:nvSpPr>
        <p:spPr>
          <a:xfrm>
            <a:off x="4297680" y="1097280"/>
            <a:ext cx="1828800" cy="914400"/>
          </a:xfrm>
          <a:prstGeom prst="rect">
            <a:avLst/>
          </a:prstGeom>
          <a:solidFill>
            <a:srgbClr val="112240"/>
          </a:solidFill>
          <a:ln w="19050">
            <a:solidFill>
              <a:srgbClr val="C9A84C"/>
            </a:solidFill>
            <a:prstDash val="solid"/>
          </a:ln>
          <a:effectLst>
            <a:outerShdw blurRad="101600" dist="38100" dir="8100000" algn="bl" rotWithShape="0">
              <a:srgbClr val="000000">
                <a:alpha val="18000"/>
              </a:srgbClr>
            </a:outerShdw>
          </a:effectLst>
        </p:spPr>
        <p:txBody>
          <a:bodyPr/>
          <a:lstStyle/>
          <a:p>
            <a:endParaRPr lang="en-US"/>
          </a:p>
        </p:txBody>
      </p:sp>
      <p:sp>
        <p:nvSpPr>
          <p:cNvPr id="13" name="Text 11"/>
          <p:cNvSpPr/>
          <p:nvPr/>
        </p:nvSpPr>
        <p:spPr>
          <a:xfrm>
            <a:off x="4297680" y="1207008"/>
            <a:ext cx="182880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Calibri" pitchFamily="34" charset="0"/>
                <a:ea typeface="Calibri" pitchFamily="34" charset="-122"/>
                <a:cs typeface="Calibri" pitchFamily="34" charset="-120"/>
              </a:rPr>
              <a:t>3</a:t>
            </a:r>
            <a:endParaRPr lang="en-US" sz="3200" dirty="0"/>
          </a:p>
        </p:txBody>
      </p:sp>
      <p:sp>
        <p:nvSpPr>
          <p:cNvPr id="14" name="Text 12"/>
          <p:cNvSpPr/>
          <p:nvPr/>
        </p:nvSpPr>
        <p:spPr>
          <a:xfrm>
            <a:off x="4297680" y="1627632"/>
            <a:ext cx="1828800" cy="347472"/>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Position Groups</a:t>
            </a:r>
            <a:endParaRPr lang="en-US" sz="1100" dirty="0"/>
          </a:p>
        </p:txBody>
      </p:sp>
      <p:sp>
        <p:nvSpPr>
          <p:cNvPr id="15" name="Shape 13"/>
          <p:cNvSpPr/>
          <p:nvPr/>
        </p:nvSpPr>
        <p:spPr>
          <a:xfrm>
            <a:off x="6263640" y="1097280"/>
            <a:ext cx="2651760" cy="914400"/>
          </a:xfrm>
          <a:prstGeom prst="rect">
            <a:avLst/>
          </a:prstGeom>
          <a:solidFill>
            <a:srgbClr val="112240"/>
          </a:solidFill>
          <a:ln w="19050">
            <a:solidFill>
              <a:srgbClr val="C9A84C"/>
            </a:solidFill>
            <a:prstDash val="solid"/>
          </a:ln>
          <a:effectLst>
            <a:outerShdw blurRad="101600" dist="38100" dir="8100000" algn="bl" rotWithShape="0">
              <a:srgbClr val="000000">
                <a:alpha val="18000"/>
              </a:srgbClr>
            </a:outerShdw>
          </a:effectLst>
        </p:spPr>
        <p:txBody>
          <a:bodyPr/>
          <a:lstStyle/>
          <a:p>
            <a:endParaRPr lang="en-US"/>
          </a:p>
        </p:txBody>
      </p:sp>
      <p:sp>
        <p:nvSpPr>
          <p:cNvPr id="16" name="Text 14"/>
          <p:cNvSpPr/>
          <p:nvPr/>
        </p:nvSpPr>
        <p:spPr>
          <a:xfrm>
            <a:off x="6263640" y="1207008"/>
            <a:ext cx="2651760" cy="502920"/>
          </a:xfrm>
          <a:prstGeom prst="rect">
            <a:avLst/>
          </a:prstGeom>
          <a:noFill/>
          <a:ln/>
        </p:spPr>
        <p:txBody>
          <a:bodyPr wrap="square" lIns="0" tIns="0" rIns="0" bIns="0" rtlCol="0" anchor="ctr"/>
          <a:lstStyle/>
          <a:p>
            <a:pPr marL="0" indent="0" algn="ctr">
              <a:buNone/>
            </a:pPr>
            <a:r>
              <a:rPr lang="en-US" sz="3200" b="1" dirty="0">
                <a:solidFill>
                  <a:srgbClr val="C9A84C"/>
                </a:solidFill>
                <a:latin typeface="Calibri" pitchFamily="34" charset="0"/>
                <a:ea typeface="Calibri" pitchFamily="34" charset="-122"/>
                <a:cs typeface="Calibri" pitchFamily="34" charset="-120"/>
              </a:rPr>
              <a:t>2023–24</a:t>
            </a:r>
            <a:endParaRPr lang="en-US" sz="3200" dirty="0"/>
          </a:p>
        </p:txBody>
      </p:sp>
      <p:sp>
        <p:nvSpPr>
          <p:cNvPr id="17" name="Text 15"/>
          <p:cNvSpPr/>
          <p:nvPr/>
        </p:nvSpPr>
        <p:spPr>
          <a:xfrm>
            <a:off x="6263640" y="1627632"/>
            <a:ext cx="2651760" cy="347472"/>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NBA Season</a:t>
            </a:r>
            <a:endParaRPr lang="en-US" sz="1100" dirty="0"/>
          </a:p>
        </p:txBody>
      </p:sp>
      <p:sp>
        <p:nvSpPr>
          <p:cNvPr id="18" name="Shape 16"/>
          <p:cNvSpPr/>
          <p:nvPr/>
        </p:nvSpPr>
        <p:spPr>
          <a:xfrm>
            <a:off x="320040" y="2176272"/>
            <a:ext cx="2788920" cy="2377440"/>
          </a:xfrm>
          <a:prstGeom prst="rect">
            <a:avLst/>
          </a:prstGeom>
          <a:solidFill>
            <a:srgbClr val="112240"/>
          </a:solidFill>
          <a:ln w="9525">
            <a:solidFill>
              <a:srgbClr val="1E3A5F"/>
            </a:solidFill>
            <a:prstDash val="solid"/>
          </a:ln>
          <a:effectLst>
            <a:outerShdw blurRad="101600" dist="38100" dir="8100000" algn="bl" rotWithShape="0">
              <a:srgbClr val="000000">
                <a:alpha val="18000"/>
              </a:srgbClr>
            </a:outerShdw>
          </a:effectLst>
        </p:spPr>
        <p:txBody>
          <a:bodyPr/>
          <a:lstStyle/>
          <a:p>
            <a:endParaRPr lang="en-US"/>
          </a:p>
        </p:txBody>
      </p:sp>
      <p:pic>
        <p:nvPicPr>
          <p:cNvPr id="19" name="Image 0" descr="preencoded.png"/>
          <p:cNvPicPr>
            <a:picLocks noChangeAspect="1"/>
          </p:cNvPicPr>
          <p:nvPr/>
        </p:nvPicPr>
        <p:blipFill>
          <a:blip r:embed="rId3"/>
          <a:stretch>
            <a:fillRect/>
          </a:stretch>
        </p:blipFill>
        <p:spPr>
          <a:xfrm>
            <a:off x="484632" y="2304288"/>
            <a:ext cx="329184" cy="329184"/>
          </a:xfrm>
          <a:prstGeom prst="rect">
            <a:avLst/>
          </a:prstGeom>
        </p:spPr>
      </p:pic>
      <p:sp>
        <p:nvSpPr>
          <p:cNvPr id="20" name="Text 17"/>
          <p:cNvSpPr/>
          <p:nvPr/>
        </p:nvSpPr>
        <p:spPr>
          <a:xfrm>
            <a:off x="886968" y="2322576"/>
            <a:ext cx="2103120" cy="310896"/>
          </a:xfrm>
          <a:prstGeom prst="rect">
            <a:avLst/>
          </a:prstGeom>
          <a:noFill/>
          <a:ln/>
        </p:spPr>
        <p:txBody>
          <a:bodyPr wrap="square" lIns="0" tIns="0" rIns="0" bIns="0" rtlCol="0" anchor="ctr"/>
          <a:lstStyle/>
          <a:p>
            <a:pPr marL="0" indent="0">
              <a:buNone/>
            </a:pPr>
            <a:r>
              <a:rPr lang="en-US" sz="1400" b="1" dirty="0">
                <a:solidFill>
                  <a:srgbClr val="C9A84C"/>
                </a:solidFill>
                <a:latin typeface="Calibri" pitchFamily="34" charset="0"/>
                <a:ea typeface="Calibri" pitchFamily="34" charset="-122"/>
                <a:cs typeface="Calibri" pitchFamily="34" charset="-120"/>
              </a:rPr>
              <a:t>Data Source</a:t>
            </a:r>
            <a:endParaRPr lang="en-US" sz="1400" dirty="0"/>
          </a:p>
        </p:txBody>
      </p:sp>
      <p:sp>
        <p:nvSpPr>
          <p:cNvPr id="21" name="Shape 18"/>
          <p:cNvSpPr/>
          <p:nvPr/>
        </p:nvSpPr>
        <p:spPr>
          <a:xfrm>
            <a:off x="484632" y="2715768"/>
            <a:ext cx="2450592" cy="22860"/>
          </a:xfrm>
          <a:prstGeom prst="rect">
            <a:avLst/>
          </a:prstGeom>
          <a:solidFill>
            <a:srgbClr val="C9A84C"/>
          </a:solidFill>
          <a:ln w="12700">
            <a:solidFill>
              <a:srgbClr val="C9A84C"/>
            </a:solidFill>
            <a:prstDash val="solid"/>
          </a:ln>
        </p:spPr>
        <p:txBody>
          <a:bodyPr/>
          <a:lstStyle/>
          <a:p>
            <a:endParaRPr lang="en-US"/>
          </a:p>
        </p:txBody>
      </p:sp>
      <p:sp>
        <p:nvSpPr>
          <p:cNvPr id="22" name="Text 19"/>
          <p:cNvSpPr/>
          <p:nvPr/>
        </p:nvSpPr>
        <p:spPr>
          <a:xfrm>
            <a:off x="484632" y="2798064"/>
            <a:ext cx="2487168" cy="1645920"/>
          </a:xfrm>
          <a:prstGeom prst="rect">
            <a:avLst/>
          </a:prstGeom>
          <a:noFill/>
          <a:ln/>
        </p:spPr>
        <p:txBody>
          <a:bodyPr wrap="square" lIns="0" tIns="0" rIns="0" bIns="0" rtlCol="0" anchor="ctr"/>
          <a:lstStyle/>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Basketball-Reference.com</a:t>
            </a:r>
            <a:endParaRPr lang="en-US" sz="1200" dirty="0"/>
          </a:p>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Per-game stats for players</a:t>
            </a:r>
            <a:endParaRPr lang="en-US" sz="1200" dirty="0"/>
          </a:p>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with 20+ games played</a:t>
            </a:r>
            <a:endParaRPr lang="en-US" sz="1200" dirty="0"/>
          </a:p>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All transformations in Python</a:t>
            </a:r>
            <a:endParaRPr lang="en-US" sz="1200" dirty="0"/>
          </a:p>
        </p:txBody>
      </p:sp>
      <p:sp>
        <p:nvSpPr>
          <p:cNvPr id="23" name="Shape 20"/>
          <p:cNvSpPr/>
          <p:nvPr/>
        </p:nvSpPr>
        <p:spPr>
          <a:xfrm>
            <a:off x="3246120" y="2176272"/>
            <a:ext cx="2788920" cy="2377440"/>
          </a:xfrm>
          <a:prstGeom prst="rect">
            <a:avLst/>
          </a:prstGeom>
          <a:solidFill>
            <a:srgbClr val="112240"/>
          </a:solidFill>
          <a:ln w="9525">
            <a:solidFill>
              <a:srgbClr val="1E3A5F"/>
            </a:solidFill>
            <a:prstDash val="solid"/>
          </a:ln>
          <a:effectLst>
            <a:outerShdw blurRad="101600" dist="38100" dir="8100000" algn="bl" rotWithShape="0">
              <a:srgbClr val="000000">
                <a:alpha val="18000"/>
              </a:srgbClr>
            </a:outerShdw>
          </a:effectLst>
        </p:spPr>
        <p:txBody>
          <a:bodyPr/>
          <a:lstStyle/>
          <a:p>
            <a:endParaRPr lang="en-US"/>
          </a:p>
        </p:txBody>
      </p:sp>
      <p:pic>
        <p:nvPicPr>
          <p:cNvPr id="24" name="Image 1" descr="preencoded.png"/>
          <p:cNvPicPr>
            <a:picLocks noChangeAspect="1"/>
          </p:cNvPicPr>
          <p:nvPr/>
        </p:nvPicPr>
        <p:blipFill>
          <a:blip r:embed="rId4"/>
          <a:stretch>
            <a:fillRect/>
          </a:stretch>
        </p:blipFill>
        <p:spPr>
          <a:xfrm>
            <a:off x="3410712" y="2304288"/>
            <a:ext cx="329184" cy="329184"/>
          </a:xfrm>
          <a:prstGeom prst="rect">
            <a:avLst/>
          </a:prstGeom>
        </p:spPr>
      </p:pic>
      <p:sp>
        <p:nvSpPr>
          <p:cNvPr id="25" name="Text 21"/>
          <p:cNvSpPr/>
          <p:nvPr/>
        </p:nvSpPr>
        <p:spPr>
          <a:xfrm>
            <a:off x="3813048" y="2322576"/>
            <a:ext cx="2103120" cy="310896"/>
          </a:xfrm>
          <a:prstGeom prst="rect">
            <a:avLst/>
          </a:prstGeom>
          <a:noFill/>
          <a:ln/>
        </p:spPr>
        <p:txBody>
          <a:bodyPr wrap="square" lIns="0" tIns="0" rIns="0" bIns="0" rtlCol="0" anchor="ctr"/>
          <a:lstStyle/>
          <a:p>
            <a:pPr marL="0" indent="0">
              <a:buNone/>
            </a:pPr>
            <a:r>
              <a:rPr lang="en-US" sz="1400" b="1" dirty="0">
                <a:solidFill>
                  <a:srgbClr val="C9A84C"/>
                </a:solidFill>
                <a:latin typeface="Calibri" pitchFamily="34" charset="0"/>
                <a:ea typeface="Calibri" pitchFamily="34" charset="-122"/>
                <a:cs typeface="Calibri" pitchFamily="34" charset="-120"/>
              </a:rPr>
              <a:t>Variables</a:t>
            </a:r>
            <a:endParaRPr lang="en-US" sz="1400" dirty="0"/>
          </a:p>
        </p:txBody>
      </p:sp>
      <p:sp>
        <p:nvSpPr>
          <p:cNvPr id="26" name="Shape 22"/>
          <p:cNvSpPr/>
          <p:nvPr/>
        </p:nvSpPr>
        <p:spPr>
          <a:xfrm>
            <a:off x="3410712" y="2715768"/>
            <a:ext cx="2450592" cy="22860"/>
          </a:xfrm>
          <a:prstGeom prst="rect">
            <a:avLst/>
          </a:prstGeom>
          <a:solidFill>
            <a:srgbClr val="C9A84C"/>
          </a:solidFill>
          <a:ln w="12700">
            <a:solidFill>
              <a:srgbClr val="C9A84C"/>
            </a:solidFill>
            <a:prstDash val="solid"/>
          </a:ln>
        </p:spPr>
        <p:txBody>
          <a:bodyPr/>
          <a:lstStyle/>
          <a:p>
            <a:endParaRPr lang="en-US"/>
          </a:p>
        </p:txBody>
      </p:sp>
      <p:sp>
        <p:nvSpPr>
          <p:cNvPr id="27" name="Text 23"/>
          <p:cNvSpPr/>
          <p:nvPr/>
        </p:nvSpPr>
        <p:spPr>
          <a:xfrm>
            <a:off x="3410712" y="2798064"/>
            <a:ext cx="2487168" cy="1645920"/>
          </a:xfrm>
          <a:prstGeom prst="rect">
            <a:avLst/>
          </a:prstGeom>
          <a:noFill/>
          <a:ln/>
        </p:spPr>
        <p:txBody>
          <a:bodyPr wrap="square" lIns="0" tIns="0" rIns="0" bIns="0" rtlCol="0" anchor="ctr"/>
          <a:lstStyle/>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Outcome: PER</a:t>
            </a:r>
            <a:endParaRPr lang="en-US" sz="1200" dirty="0"/>
          </a:p>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Predictors: PTS, REB, AST,</a:t>
            </a:r>
            <a:endParaRPr lang="en-US" sz="1200" dirty="0"/>
          </a:p>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STL, BLK, TOV, FG%, FT%</a:t>
            </a:r>
            <a:endParaRPr lang="en-US" sz="1200" dirty="0"/>
          </a:p>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Grouping: Position</a:t>
            </a:r>
            <a:endParaRPr lang="en-US" sz="1200" dirty="0"/>
          </a:p>
        </p:txBody>
      </p:sp>
      <p:sp>
        <p:nvSpPr>
          <p:cNvPr id="28" name="Shape 24"/>
          <p:cNvSpPr/>
          <p:nvPr/>
        </p:nvSpPr>
        <p:spPr>
          <a:xfrm>
            <a:off x="6144768" y="2176272"/>
            <a:ext cx="2788920" cy="2377440"/>
          </a:xfrm>
          <a:prstGeom prst="rect">
            <a:avLst/>
          </a:prstGeom>
          <a:solidFill>
            <a:srgbClr val="112240"/>
          </a:solidFill>
          <a:ln w="9525">
            <a:solidFill>
              <a:srgbClr val="1E3A5F"/>
            </a:solidFill>
            <a:prstDash val="solid"/>
          </a:ln>
          <a:effectLst>
            <a:outerShdw blurRad="101600" dist="38100" dir="8100000" algn="bl" rotWithShape="0">
              <a:srgbClr val="000000">
                <a:alpha val="18000"/>
              </a:srgbClr>
            </a:outerShdw>
          </a:effectLst>
        </p:spPr>
        <p:txBody>
          <a:bodyPr/>
          <a:lstStyle/>
          <a:p>
            <a:endParaRPr lang="en-US"/>
          </a:p>
        </p:txBody>
      </p:sp>
      <p:pic>
        <p:nvPicPr>
          <p:cNvPr id="29" name="Image 2" descr="preencoded.png"/>
          <p:cNvPicPr>
            <a:picLocks noChangeAspect="1"/>
          </p:cNvPicPr>
          <p:nvPr/>
        </p:nvPicPr>
        <p:blipFill>
          <a:blip r:embed="rId5"/>
          <a:stretch>
            <a:fillRect/>
          </a:stretch>
        </p:blipFill>
        <p:spPr>
          <a:xfrm>
            <a:off x="6309360" y="2304288"/>
            <a:ext cx="329184" cy="329184"/>
          </a:xfrm>
          <a:prstGeom prst="rect">
            <a:avLst/>
          </a:prstGeom>
        </p:spPr>
      </p:pic>
      <p:sp>
        <p:nvSpPr>
          <p:cNvPr id="30" name="Text 25"/>
          <p:cNvSpPr/>
          <p:nvPr/>
        </p:nvSpPr>
        <p:spPr>
          <a:xfrm>
            <a:off x="6711696" y="2322576"/>
            <a:ext cx="2103120" cy="310896"/>
          </a:xfrm>
          <a:prstGeom prst="rect">
            <a:avLst/>
          </a:prstGeom>
          <a:noFill/>
          <a:ln/>
        </p:spPr>
        <p:txBody>
          <a:bodyPr wrap="square" lIns="0" tIns="0" rIns="0" bIns="0" rtlCol="0" anchor="ctr"/>
          <a:lstStyle/>
          <a:p>
            <a:pPr marL="0" indent="0">
              <a:buNone/>
            </a:pPr>
            <a:r>
              <a:rPr lang="en-US" sz="1400" b="1" dirty="0">
                <a:solidFill>
                  <a:srgbClr val="C9A84C"/>
                </a:solidFill>
                <a:latin typeface="Calibri" pitchFamily="34" charset="0"/>
                <a:ea typeface="Calibri" pitchFamily="34" charset="-122"/>
                <a:cs typeface="Calibri" pitchFamily="34" charset="-120"/>
              </a:rPr>
              <a:t>Methods</a:t>
            </a:r>
            <a:endParaRPr lang="en-US" sz="1400" dirty="0"/>
          </a:p>
        </p:txBody>
      </p:sp>
      <p:sp>
        <p:nvSpPr>
          <p:cNvPr id="31" name="Shape 26"/>
          <p:cNvSpPr/>
          <p:nvPr/>
        </p:nvSpPr>
        <p:spPr>
          <a:xfrm>
            <a:off x="6309360" y="2715768"/>
            <a:ext cx="2450592" cy="22860"/>
          </a:xfrm>
          <a:prstGeom prst="rect">
            <a:avLst/>
          </a:prstGeom>
          <a:solidFill>
            <a:srgbClr val="C9A84C"/>
          </a:solidFill>
          <a:ln w="12700">
            <a:solidFill>
              <a:srgbClr val="C9A84C"/>
            </a:solidFill>
            <a:prstDash val="solid"/>
          </a:ln>
        </p:spPr>
        <p:txBody>
          <a:bodyPr/>
          <a:lstStyle/>
          <a:p>
            <a:endParaRPr lang="en-US"/>
          </a:p>
        </p:txBody>
      </p:sp>
      <p:sp>
        <p:nvSpPr>
          <p:cNvPr id="32" name="Text 27"/>
          <p:cNvSpPr/>
          <p:nvPr/>
        </p:nvSpPr>
        <p:spPr>
          <a:xfrm>
            <a:off x="6309360" y="2798064"/>
            <a:ext cx="2487168" cy="1645920"/>
          </a:xfrm>
          <a:prstGeom prst="rect">
            <a:avLst/>
          </a:prstGeom>
          <a:noFill/>
          <a:ln/>
        </p:spPr>
        <p:txBody>
          <a:bodyPr wrap="square" lIns="0" tIns="0" rIns="0" bIns="0" rtlCol="0" anchor="ctr"/>
          <a:lstStyle/>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Correlation analysis</a:t>
            </a:r>
            <a:endParaRPr lang="en-US" sz="1200" dirty="0"/>
          </a:p>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Multiple linear regression</a:t>
            </a:r>
            <a:endParaRPr lang="en-US" sz="1200" dirty="0"/>
          </a:p>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StandardScaler normalization</a:t>
            </a:r>
            <a:endParaRPr lang="en-US" sz="1200" dirty="0"/>
          </a:p>
          <a:p>
            <a:pPr marL="0" indent="0">
              <a:lnSpc>
                <a:spcPct val="145000"/>
              </a:lnSpc>
              <a:buNone/>
            </a:pPr>
            <a:r>
              <a:rPr lang="en-US" sz="1200" dirty="0">
                <a:solidFill>
                  <a:srgbClr val="F0F4FF"/>
                </a:solidFill>
                <a:latin typeface="Calibri" pitchFamily="34" charset="0"/>
                <a:ea typeface="Calibri" pitchFamily="34" charset="-122"/>
                <a:cs typeface="Calibri" pitchFamily="34" charset="-120"/>
              </a:rPr>
              <a:t>70/30 train-test split</a:t>
            </a:r>
            <a:endParaRPr lang="en-US" sz="1200" dirty="0"/>
          </a:p>
        </p:txBody>
      </p:sp>
      <p:sp>
        <p:nvSpPr>
          <p:cNvPr id="33" name="Shape 28"/>
          <p:cNvSpPr/>
          <p:nvPr/>
        </p:nvSpPr>
        <p:spPr>
          <a:xfrm>
            <a:off x="320040" y="4663440"/>
            <a:ext cx="8503920" cy="292608"/>
          </a:xfrm>
          <a:prstGeom prst="rect">
            <a:avLst/>
          </a:prstGeom>
          <a:solidFill>
            <a:srgbClr val="0D2137"/>
          </a:solidFill>
          <a:ln w="9525">
            <a:solidFill>
              <a:srgbClr val="C9A84C"/>
            </a:solidFill>
            <a:prstDash val="solid"/>
          </a:ln>
        </p:spPr>
        <p:txBody>
          <a:bodyPr/>
          <a:lstStyle/>
          <a:p>
            <a:endParaRPr lang="en-US"/>
          </a:p>
        </p:txBody>
      </p:sp>
      <p:sp>
        <p:nvSpPr>
          <p:cNvPr id="34" name="Text 29"/>
          <p:cNvSpPr/>
          <p:nvPr/>
        </p:nvSpPr>
        <p:spPr>
          <a:xfrm>
            <a:off x="411480" y="4672584"/>
            <a:ext cx="8321040" cy="256032"/>
          </a:xfrm>
          <a:prstGeom prst="rect">
            <a:avLst/>
          </a:prstGeom>
          <a:noFill/>
          <a:ln/>
        </p:spPr>
        <p:txBody>
          <a:bodyPr wrap="square" lIns="0" tIns="0" rIns="0" bIns="0" rtlCol="0" anchor="ctr"/>
          <a:lstStyle/>
          <a:p>
            <a:pPr marL="0" indent="0" algn="ctr">
              <a:buNone/>
            </a:pPr>
            <a:r>
              <a:rPr lang="en-US" sz="1100" i="1" dirty="0">
                <a:solidFill>
                  <a:srgbClr val="C9A84C"/>
                </a:solidFill>
                <a:latin typeface="Calibri" pitchFamily="34" charset="0"/>
                <a:ea typeface="Calibri" pitchFamily="34" charset="-122"/>
                <a:cs typeface="Calibri" pitchFamily="34" charset="-120"/>
              </a:rPr>
              <a:t>✔  All cleaning and transformations performed in Python — no Excel used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txBody>
          <a:bodyPr/>
          <a:lstStyle/>
          <a:p>
            <a:endParaRPr lang="en-US"/>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RQ1: Which Stats Drive PER?</a:t>
            </a:r>
            <a:endParaRPr lang="en-US" sz="2800" dirty="0"/>
          </a:p>
        </p:txBody>
      </p:sp>
      <p:sp>
        <p:nvSpPr>
          <p:cNvPr id="4" name="Text 2"/>
          <p:cNvSpPr/>
          <p:nvPr/>
        </p:nvSpPr>
        <p:spPr>
          <a:xfrm>
            <a:off x="457200" y="713232"/>
            <a:ext cx="8229600" cy="292608"/>
          </a:xfrm>
          <a:prstGeom prst="rect">
            <a:avLst/>
          </a:prstGeom>
          <a:noFill/>
          <a:ln/>
        </p:spPr>
        <p:txBody>
          <a:bodyPr wrap="square" lIns="0" tIns="0" rIns="0" bIns="0" rtlCol="0" anchor="ctr"/>
          <a:lstStyle/>
          <a:p>
            <a:pPr marL="0" indent="0">
              <a:buNone/>
            </a:pPr>
            <a:r>
              <a:rPr lang="en-US" sz="1300" i="1" dirty="0">
                <a:solidFill>
                  <a:srgbClr val="C9A84C"/>
                </a:solidFill>
                <a:latin typeface="Calibri" pitchFamily="34" charset="0"/>
                <a:ea typeface="Calibri" pitchFamily="34" charset="-122"/>
                <a:cs typeface="Calibri" pitchFamily="34" charset="-120"/>
              </a:rPr>
              <a:t>Visualization 1 — Correlation Heatmap</a:t>
            </a:r>
            <a:endParaRPr lang="en-US" sz="1300" dirty="0"/>
          </a:p>
        </p:txBody>
      </p:sp>
      <p:sp>
        <p:nvSpPr>
          <p:cNvPr id="5" name="Text 3"/>
          <p:cNvSpPr/>
          <p:nvPr/>
        </p:nvSpPr>
        <p:spPr>
          <a:xfrm>
            <a:off x="8046720" y="4846320"/>
            <a:ext cx="822960" cy="228600"/>
          </a:xfrm>
          <a:prstGeom prst="rect">
            <a:avLst/>
          </a:prstGeom>
          <a:noFill/>
          <a:ln/>
        </p:spPr>
        <p:txBody>
          <a:bodyPr wrap="square" lIns="0" tIns="0" rIns="0" bIns="0" rtlCol="0" anchor="ctr"/>
          <a:lstStyle/>
          <a:p>
            <a:pPr marL="0" indent="0" algn="r">
              <a:buNone/>
            </a:pPr>
            <a:r>
              <a:rPr lang="en-US" sz="900" dirty="0">
                <a:solidFill>
                  <a:srgbClr val="8FA3BF"/>
                </a:solidFill>
                <a:latin typeface="Calibri" pitchFamily="34" charset="0"/>
                <a:ea typeface="Calibri" pitchFamily="34" charset="-122"/>
                <a:cs typeface="Calibri" pitchFamily="34" charset="-120"/>
              </a:rPr>
              <a:t>4 / 8</a:t>
            </a:r>
            <a:endParaRPr lang="en-US" sz="900" dirty="0"/>
          </a:p>
        </p:txBody>
      </p:sp>
      <p:pic>
        <p:nvPicPr>
          <p:cNvPr id="6" name="Image 0" descr="preencoded.png"/>
          <p:cNvPicPr>
            <a:picLocks noChangeAspect="1"/>
          </p:cNvPicPr>
          <p:nvPr/>
        </p:nvPicPr>
        <p:blipFill>
          <a:blip r:embed="rId3"/>
          <a:stretch>
            <a:fillRect/>
          </a:stretch>
        </p:blipFill>
        <p:spPr>
          <a:xfrm>
            <a:off x="274320" y="1005840"/>
            <a:ext cx="5669280" cy="3977640"/>
          </a:xfrm>
          <a:prstGeom prst="rect">
            <a:avLst/>
          </a:prstGeom>
        </p:spPr>
      </p:pic>
      <p:sp>
        <p:nvSpPr>
          <p:cNvPr id="7" name="Shape 4"/>
          <p:cNvSpPr/>
          <p:nvPr/>
        </p:nvSpPr>
        <p:spPr>
          <a:xfrm>
            <a:off x="6080760" y="1005840"/>
            <a:ext cx="2880360" cy="3977640"/>
          </a:xfrm>
          <a:prstGeom prst="rect">
            <a:avLst/>
          </a:prstGeom>
          <a:solidFill>
            <a:srgbClr val="112240"/>
          </a:solidFill>
          <a:ln w="12700">
            <a:solidFill>
              <a:srgbClr val="1E3A5F"/>
            </a:solidFill>
            <a:prstDash val="solid"/>
          </a:ln>
          <a:effectLst>
            <a:outerShdw blurRad="101600" dist="38100" dir="8100000" algn="bl" rotWithShape="0">
              <a:srgbClr val="000000">
                <a:alpha val="18000"/>
              </a:srgbClr>
            </a:outerShdw>
          </a:effectLst>
        </p:spPr>
        <p:txBody>
          <a:bodyPr/>
          <a:lstStyle/>
          <a:p>
            <a:endParaRPr lang="en-US"/>
          </a:p>
        </p:txBody>
      </p:sp>
      <p:sp>
        <p:nvSpPr>
          <p:cNvPr id="8" name="Text 5"/>
          <p:cNvSpPr/>
          <p:nvPr/>
        </p:nvSpPr>
        <p:spPr>
          <a:xfrm>
            <a:off x="6263640" y="1115568"/>
            <a:ext cx="2560320" cy="274320"/>
          </a:xfrm>
          <a:prstGeom prst="rect">
            <a:avLst/>
          </a:prstGeom>
          <a:noFill/>
          <a:ln/>
        </p:spPr>
        <p:txBody>
          <a:bodyPr wrap="square" lIns="0" tIns="0" rIns="0" bIns="0" rtlCol="0" anchor="ctr"/>
          <a:lstStyle/>
          <a:p>
            <a:pPr marL="0" indent="0">
              <a:buNone/>
            </a:pPr>
            <a:r>
              <a:rPr lang="en-US" sz="900" b="1" kern="0" spc="300" dirty="0">
                <a:solidFill>
                  <a:srgbClr val="C9A84C"/>
                </a:solidFill>
                <a:latin typeface="Calibri" pitchFamily="34" charset="0"/>
                <a:ea typeface="Calibri" pitchFamily="34" charset="-122"/>
                <a:cs typeface="Calibri" pitchFamily="34" charset="-120"/>
              </a:rPr>
              <a:t>KEY FINDINGS</a:t>
            </a:r>
            <a:endParaRPr lang="en-US" sz="900" dirty="0"/>
          </a:p>
        </p:txBody>
      </p:sp>
      <p:sp>
        <p:nvSpPr>
          <p:cNvPr id="9" name="Shape 6"/>
          <p:cNvSpPr/>
          <p:nvPr/>
        </p:nvSpPr>
        <p:spPr>
          <a:xfrm>
            <a:off x="6172200" y="1508760"/>
            <a:ext cx="2697480" cy="566928"/>
          </a:xfrm>
          <a:prstGeom prst="rect">
            <a:avLst/>
          </a:prstGeom>
          <a:solidFill>
            <a:srgbClr val="0A1628"/>
          </a:solidFill>
          <a:ln w="15240">
            <a:solidFill>
              <a:srgbClr val="F5A623"/>
            </a:solidFill>
            <a:prstDash val="solid"/>
          </a:ln>
        </p:spPr>
        <p:txBody>
          <a:bodyPr/>
          <a:lstStyle/>
          <a:p>
            <a:endParaRPr lang="en-US"/>
          </a:p>
        </p:txBody>
      </p:sp>
      <p:sp>
        <p:nvSpPr>
          <p:cNvPr id="10" name="Text 7"/>
          <p:cNvSpPr/>
          <p:nvPr/>
        </p:nvSpPr>
        <p:spPr>
          <a:xfrm>
            <a:off x="6263640" y="1545336"/>
            <a:ext cx="2514600" cy="237744"/>
          </a:xfrm>
          <a:prstGeom prst="rect">
            <a:avLst/>
          </a:prstGeom>
          <a:noFill/>
          <a:ln/>
        </p:spPr>
        <p:txBody>
          <a:bodyPr wrap="square" lIns="0" tIns="0" rIns="0" bIns="0" rtlCol="0" anchor="ctr"/>
          <a:lstStyle/>
          <a:p>
            <a:pPr marL="0" indent="0">
              <a:buNone/>
            </a:pPr>
            <a:r>
              <a:rPr lang="en-US" sz="1200" b="1" dirty="0">
                <a:solidFill>
                  <a:srgbClr val="F5A623"/>
                </a:solidFill>
                <a:latin typeface="Calibri" pitchFamily="34" charset="0"/>
                <a:ea typeface="Calibri" pitchFamily="34" charset="-122"/>
                <a:cs typeface="Calibri" pitchFamily="34" charset="-120"/>
              </a:rPr>
              <a:t>PTS  r = 0.94</a:t>
            </a:r>
            <a:endParaRPr lang="en-US" sz="1200" dirty="0"/>
          </a:p>
        </p:txBody>
      </p:sp>
      <p:sp>
        <p:nvSpPr>
          <p:cNvPr id="11" name="Text 8"/>
          <p:cNvSpPr/>
          <p:nvPr/>
        </p:nvSpPr>
        <p:spPr>
          <a:xfrm>
            <a:off x="6263640" y="1783080"/>
            <a:ext cx="2514600" cy="228600"/>
          </a:xfrm>
          <a:prstGeom prst="rect">
            <a:avLst/>
          </a:prstGeom>
          <a:noFill/>
          <a:ln/>
        </p:spPr>
        <p:txBody>
          <a:bodyPr wrap="square" lIns="0" tIns="0" rIns="0" bIns="0" rtlCol="0" anchor="ctr"/>
          <a:lstStyle/>
          <a:p>
            <a:pPr marL="0" indent="0">
              <a:buNone/>
            </a:pPr>
            <a:r>
              <a:rPr lang="en-US" sz="1000" i="1" dirty="0">
                <a:solidFill>
                  <a:srgbClr val="8FA3BF"/>
                </a:solidFill>
                <a:latin typeface="Calibri" pitchFamily="34" charset="0"/>
                <a:ea typeface="Calibri" pitchFamily="34" charset="-122"/>
                <a:cs typeface="Calibri" pitchFamily="34" charset="-120"/>
              </a:rPr>
              <a:t>Strongest predictor by far</a:t>
            </a:r>
            <a:endParaRPr lang="en-US" sz="1000" dirty="0"/>
          </a:p>
        </p:txBody>
      </p:sp>
      <p:sp>
        <p:nvSpPr>
          <p:cNvPr id="12" name="Shape 9"/>
          <p:cNvSpPr/>
          <p:nvPr/>
        </p:nvSpPr>
        <p:spPr>
          <a:xfrm>
            <a:off x="6172200" y="2176272"/>
            <a:ext cx="2697480" cy="566928"/>
          </a:xfrm>
          <a:prstGeom prst="rect">
            <a:avLst/>
          </a:prstGeom>
          <a:solidFill>
            <a:srgbClr val="0A1628"/>
          </a:solidFill>
          <a:ln w="15240">
            <a:solidFill>
              <a:srgbClr val="E8C96A"/>
            </a:solidFill>
            <a:prstDash val="solid"/>
          </a:ln>
        </p:spPr>
        <p:txBody>
          <a:bodyPr/>
          <a:lstStyle/>
          <a:p>
            <a:endParaRPr lang="en-US"/>
          </a:p>
        </p:txBody>
      </p:sp>
      <p:sp>
        <p:nvSpPr>
          <p:cNvPr id="13" name="Text 10"/>
          <p:cNvSpPr/>
          <p:nvPr/>
        </p:nvSpPr>
        <p:spPr>
          <a:xfrm>
            <a:off x="6263640" y="2212848"/>
            <a:ext cx="2514600" cy="237744"/>
          </a:xfrm>
          <a:prstGeom prst="rect">
            <a:avLst/>
          </a:prstGeom>
          <a:noFill/>
          <a:ln/>
        </p:spPr>
        <p:txBody>
          <a:bodyPr wrap="square" lIns="0" tIns="0" rIns="0" bIns="0" rtlCol="0" anchor="ctr"/>
          <a:lstStyle/>
          <a:p>
            <a:pPr marL="0" indent="0">
              <a:buNone/>
            </a:pPr>
            <a:r>
              <a:rPr lang="en-US" sz="1200" b="1" dirty="0">
                <a:solidFill>
                  <a:srgbClr val="E8C96A"/>
                </a:solidFill>
                <a:latin typeface="Calibri" pitchFamily="34" charset="0"/>
                <a:ea typeface="Calibri" pitchFamily="34" charset="-122"/>
                <a:cs typeface="Calibri" pitchFamily="34" charset="-120"/>
              </a:rPr>
              <a:t>TOV  r = 0.93</a:t>
            </a:r>
            <a:endParaRPr lang="en-US" sz="1200" dirty="0"/>
          </a:p>
        </p:txBody>
      </p:sp>
      <p:sp>
        <p:nvSpPr>
          <p:cNvPr id="14" name="Text 11"/>
          <p:cNvSpPr/>
          <p:nvPr/>
        </p:nvSpPr>
        <p:spPr>
          <a:xfrm>
            <a:off x="6263640" y="2450592"/>
            <a:ext cx="2514600" cy="228600"/>
          </a:xfrm>
          <a:prstGeom prst="rect">
            <a:avLst/>
          </a:prstGeom>
          <a:noFill/>
          <a:ln/>
        </p:spPr>
        <p:txBody>
          <a:bodyPr wrap="square" lIns="0" tIns="0" rIns="0" bIns="0" rtlCol="0" anchor="ctr"/>
          <a:lstStyle/>
          <a:p>
            <a:pPr marL="0" indent="0">
              <a:buNone/>
            </a:pPr>
            <a:r>
              <a:rPr lang="en-US" sz="1000" i="1" dirty="0">
                <a:solidFill>
                  <a:srgbClr val="8FA3BF"/>
                </a:solidFill>
                <a:latin typeface="Calibri" pitchFamily="34" charset="0"/>
                <a:ea typeface="Calibri" pitchFamily="34" charset="-122"/>
                <a:cs typeface="Calibri" pitchFamily="34" charset="-120"/>
              </a:rPr>
              <a:t>Reflects high usage / ball-handling</a:t>
            </a:r>
            <a:endParaRPr lang="en-US" sz="1000" dirty="0"/>
          </a:p>
        </p:txBody>
      </p:sp>
      <p:sp>
        <p:nvSpPr>
          <p:cNvPr id="15" name="Shape 12"/>
          <p:cNvSpPr/>
          <p:nvPr/>
        </p:nvSpPr>
        <p:spPr>
          <a:xfrm>
            <a:off x="6172200" y="2843784"/>
            <a:ext cx="2697480" cy="566928"/>
          </a:xfrm>
          <a:prstGeom prst="rect">
            <a:avLst/>
          </a:prstGeom>
          <a:solidFill>
            <a:srgbClr val="0A1628"/>
          </a:solidFill>
          <a:ln w="15240">
            <a:solidFill>
              <a:srgbClr val="1ABC9C"/>
            </a:solidFill>
            <a:prstDash val="solid"/>
          </a:ln>
        </p:spPr>
        <p:txBody>
          <a:bodyPr/>
          <a:lstStyle/>
          <a:p>
            <a:endParaRPr lang="en-US"/>
          </a:p>
        </p:txBody>
      </p:sp>
      <p:sp>
        <p:nvSpPr>
          <p:cNvPr id="16" name="Text 13"/>
          <p:cNvSpPr/>
          <p:nvPr/>
        </p:nvSpPr>
        <p:spPr>
          <a:xfrm>
            <a:off x="6263640" y="2880360"/>
            <a:ext cx="2514600" cy="237744"/>
          </a:xfrm>
          <a:prstGeom prst="rect">
            <a:avLst/>
          </a:prstGeom>
          <a:noFill/>
          <a:ln/>
        </p:spPr>
        <p:txBody>
          <a:bodyPr wrap="square" lIns="0" tIns="0" rIns="0" bIns="0" rtlCol="0" anchor="ctr"/>
          <a:lstStyle/>
          <a:p>
            <a:pPr marL="0" indent="0">
              <a:buNone/>
            </a:pPr>
            <a:r>
              <a:rPr lang="en-US" sz="1200" b="1" dirty="0">
                <a:solidFill>
                  <a:srgbClr val="1ABC9C"/>
                </a:solidFill>
                <a:latin typeface="Calibri" pitchFamily="34" charset="0"/>
                <a:ea typeface="Calibri" pitchFamily="34" charset="-122"/>
                <a:cs typeface="Calibri" pitchFamily="34" charset="-120"/>
              </a:rPr>
              <a:t>AST  r = 0.74</a:t>
            </a:r>
            <a:endParaRPr lang="en-US" sz="1200" dirty="0"/>
          </a:p>
        </p:txBody>
      </p:sp>
      <p:sp>
        <p:nvSpPr>
          <p:cNvPr id="17" name="Text 14"/>
          <p:cNvSpPr/>
          <p:nvPr/>
        </p:nvSpPr>
        <p:spPr>
          <a:xfrm>
            <a:off x="6263640" y="3118104"/>
            <a:ext cx="2514600" cy="228600"/>
          </a:xfrm>
          <a:prstGeom prst="rect">
            <a:avLst/>
          </a:prstGeom>
          <a:noFill/>
          <a:ln/>
        </p:spPr>
        <p:txBody>
          <a:bodyPr wrap="square" lIns="0" tIns="0" rIns="0" bIns="0" rtlCol="0" anchor="ctr"/>
          <a:lstStyle/>
          <a:p>
            <a:pPr marL="0" indent="0">
              <a:buNone/>
            </a:pPr>
            <a:r>
              <a:rPr lang="en-US" sz="1000" i="1" dirty="0">
                <a:solidFill>
                  <a:srgbClr val="8FA3BF"/>
                </a:solidFill>
                <a:latin typeface="Calibri" pitchFamily="34" charset="0"/>
                <a:ea typeface="Calibri" pitchFamily="34" charset="-122"/>
                <a:cs typeface="Calibri" pitchFamily="34" charset="-120"/>
              </a:rPr>
              <a:t>Playmaking adds significant value</a:t>
            </a:r>
            <a:endParaRPr lang="en-US" sz="1000" dirty="0"/>
          </a:p>
        </p:txBody>
      </p:sp>
      <p:sp>
        <p:nvSpPr>
          <p:cNvPr id="18" name="Shape 15"/>
          <p:cNvSpPr/>
          <p:nvPr/>
        </p:nvSpPr>
        <p:spPr>
          <a:xfrm>
            <a:off x="6172200" y="3511296"/>
            <a:ext cx="2697480" cy="566928"/>
          </a:xfrm>
          <a:prstGeom prst="rect">
            <a:avLst/>
          </a:prstGeom>
          <a:solidFill>
            <a:srgbClr val="0A1628"/>
          </a:solidFill>
          <a:ln w="15240">
            <a:solidFill>
              <a:srgbClr val="5DADE2"/>
            </a:solidFill>
            <a:prstDash val="solid"/>
          </a:ln>
        </p:spPr>
        <p:txBody>
          <a:bodyPr/>
          <a:lstStyle/>
          <a:p>
            <a:endParaRPr lang="en-US"/>
          </a:p>
        </p:txBody>
      </p:sp>
      <p:sp>
        <p:nvSpPr>
          <p:cNvPr id="19" name="Text 16"/>
          <p:cNvSpPr/>
          <p:nvPr/>
        </p:nvSpPr>
        <p:spPr>
          <a:xfrm>
            <a:off x="6263640" y="3547872"/>
            <a:ext cx="2514600" cy="237744"/>
          </a:xfrm>
          <a:prstGeom prst="rect">
            <a:avLst/>
          </a:prstGeom>
          <a:noFill/>
          <a:ln/>
        </p:spPr>
        <p:txBody>
          <a:bodyPr wrap="square" lIns="0" tIns="0" rIns="0" bIns="0" rtlCol="0" anchor="ctr"/>
          <a:lstStyle/>
          <a:p>
            <a:pPr marL="0" indent="0">
              <a:buNone/>
            </a:pPr>
            <a:r>
              <a:rPr lang="en-US" sz="1200" b="1" dirty="0">
                <a:solidFill>
                  <a:srgbClr val="5DADE2"/>
                </a:solidFill>
                <a:latin typeface="Calibri" pitchFamily="34" charset="0"/>
                <a:ea typeface="Calibri" pitchFamily="34" charset="-122"/>
                <a:cs typeface="Calibri" pitchFamily="34" charset="-120"/>
              </a:rPr>
              <a:t>STL  r = 0.69</a:t>
            </a:r>
            <a:endParaRPr lang="en-US" sz="1200" dirty="0"/>
          </a:p>
        </p:txBody>
      </p:sp>
      <p:sp>
        <p:nvSpPr>
          <p:cNvPr id="20" name="Text 17"/>
          <p:cNvSpPr/>
          <p:nvPr/>
        </p:nvSpPr>
        <p:spPr>
          <a:xfrm>
            <a:off x="6263640" y="3785616"/>
            <a:ext cx="2514600" cy="228600"/>
          </a:xfrm>
          <a:prstGeom prst="rect">
            <a:avLst/>
          </a:prstGeom>
          <a:noFill/>
          <a:ln/>
        </p:spPr>
        <p:txBody>
          <a:bodyPr wrap="square" lIns="0" tIns="0" rIns="0" bIns="0" rtlCol="0" anchor="ctr"/>
          <a:lstStyle/>
          <a:p>
            <a:pPr marL="0" indent="0">
              <a:buNone/>
            </a:pPr>
            <a:r>
              <a:rPr lang="en-US" sz="1000" i="1" dirty="0">
                <a:solidFill>
                  <a:srgbClr val="8FA3BF"/>
                </a:solidFill>
                <a:latin typeface="Calibri" pitchFamily="34" charset="0"/>
                <a:ea typeface="Calibri" pitchFamily="34" charset="-122"/>
                <a:cs typeface="Calibri" pitchFamily="34" charset="-120"/>
              </a:rPr>
              <a:t>Defensive impact matters</a:t>
            </a:r>
            <a:endParaRPr lang="en-US" sz="1000" dirty="0"/>
          </a:p>
        </p:txBody>
      </p:sp>
      <p:sp>
        <p:nvSpPr>
          <p:cNvPr id="21" name="Shape 18"/>
          <p:cNvSpPr/>
          <p:nvPr/>
        </p:nvSpPr>
        <p:spPr>
          <a:xfrm>
            <a:off x="6172200" y="4178808"/>
            <a:ext cx="2697480" cy="566928"/>
          </a:xfrm>
          <a:prstGeom prst="rect">
            <a:avLst/>
          </a:prstGeom>
          <a:solidFill>
            <a:srgbClr val="0A1628"/>
          </a:solidFill>
          <a:ln w="15240">
            <a:solidFill>
              <a:srgbClr val="E74C3C"/>
            </a:solidFill>
            <a:prstDash val="solid"/>
          </a:ln>
        </p:spPr>
        <p:txBody>
          <a:bodyPr/>
          <a:lstStyle/>
          <a:p>
            <a:endParaRPr lang="en-US"/>
          </a:p>
        </p:txBody>
      </p:sp>
      <p:sp>
        <p:nvSpPr>
          <p:cNvPr id="22" name="Text 19"/>
          <p:cNvSpPr/>
          <p:nvPr/>
        </p:nvSpPr>
        <p:spPr>
          <a:xfrm>
            <a:off x="6263640" y="4215384"/>
            <a:ext cx="2514600" cy="237744"/>
          </a:xfrm>
          <a:prstGeom prst="rect">
            <a:avLst/>
          </a:prstGeom>
          <a:noFill/>
          <a:ln/>
        </p:spPr>
        <p:txBody>
          <a:bodyPr wrap="square" lIns="0" tIns="0" rIns="0" bIns="0" rtlCol="0" anchor="ctr"/>
          <a:lstStyle/>
          <a:p>
            <a:pPr marL="0" indent="0">
              <a:buNone/>
            </a:pPr>
            <a:r>
              <a:rPr lang="en-US" sz="1200" b="1" dirty="0">
                <a:solidFill>
                  <a:srgbClr val="E74C3C"/>
                </a:solidFill>
                <a:latin typeface="Calibri" pitchFamily="34" charset="0"/>
                <a:ea typeface="Calibri" pitchFamily="34" charset="-122"/>
                <a:cs typeface="Calibri" pitchFamily="34" charset="-120"/>
              </a:rPr>
              <a:t>FG%  r = 0.13</a:t>
            </a:r>
            <a:endParaRPr lang="en-US" sz="1200" dirty="0"/>
          </a:p>
        </p:txBody>
      </p:sp>
      <p:sp>
        <p:nvSpPr>
          <p:cNvPr id="23" name="Text 20"/>
          <p:cNvSpPr/>
          <p:nvPr/>
        </p:nvSpPr>
        <p:spPr>
          <a:xfrm>
            <a:off x="6263640" y="4453128"/>
            <a:ext cx="2514600" cy="228600"/>
          </a:xfrm>
          <a:prstGeom prst="rect">
            <a:avLst/>
          </a:prstGeom>
          <a:noFill/>
          <a:ln/>
        </p:spPr>
        <p:txBody>
          <a:bodyPr wrap="square" lIns="0" tIns="0" rIns="0" bIns="0" rtlCol="0" anchor="ctr"/>
          <a:lstStyle/>
          <a:p>
            <a:pPr marL="0" indent="0">
              <a:buNone/>
            </a:pPr>
            <a:r>
              <a:rPr lang="en-US" sz="1000" i="1" dirty="0">
                <a:solidFill>
                  <a:srgbClr val="8FA3BF"/>
                </a:solidFill>
                <a:latin typeface="Calibri" pitchFamily="34" charset="0"/>
                <a:ea typeface="Calibri" pitchFamily="34" charset="-122"/>
                <a:cs typeface="Calibri" pitchFamily="34" charset="-120"/>
              </a:rPr>
              <a:t>Weak alone — efficiency needs volume</a:t>
            </a:r>
            <a:endParaRPr lang="en-US" sz="1000" dirty="0"/>
          </a:p>
        </p:txBody>
      </p:sp>
      <p:sp>
        <p:nvSpPr>
          <p:cNvPr id="24" name="Shape 21"/>
          <p:cNvSpPr/>
          <p:nvPr/>
        </p:nvSpPr>
        <p:spPr>
          <a:xfrm>
            <a:off x="274320" y="4773168"/>
            <a:ext cx="8595360" cy="292608"/>
          </a:xfrm>
          <a:prstGeom prst="rect">
            <a:avLst/>
          </a:prstGeom>
          <a:solidFill>
            <a:srgbClr val="0D2137"/>
          </a:solidFill>
          <a:ln w="9525">
            <a:solidFill>
              <a:srgbClr val="1ABC9C"/>
            </a:solidFill>
            <a:prstDash val="solid"/>
          </a:ln>
        </p:spPr>
        <p:txBody>
          <a:bodyPr/>
          <a:lstStyle/>
          <a:p>
            <a:endParaRPr lang="en-US"/>
          </a:p>
        </p:txBody>
      </p:sp>
      <p:sp>
        <p:nvSpPr>
          <p:cNvPr id="25" name="Text 22"/>
          <p:cNvSpPr/>
          <p:nvPr/>
        </p:nvSpPr>
        <p:spPr>
          <a:xfrm>
            <a:off x="411480" y="4791456"/>
            <a:ext cx="8321040" cy="256032"/>
          </a:xfrm>
          <a:prstGeom prst="rect">
            <a:avLst/>
          </a:prstGeom>
          <a:noFill/>
          <a:ln/>
        </p:spPr>
        <p:txBody>
          <a:bodyPr wrap="square" lIns="0" tIns="0" rIns="0" bIns="0" rtlCol="0" anchor="ctr"/>
          <a:lstStyle/>
          <a:p>
            <a:pPr marL="0" indent="0">
              <a:buNone/>
            </a:pPr>
            <a:r>
              <a:rPr lang="en-US" sz="1100" i="1" dirty="0">
                <a:solidFill>
                  <a:srgbClr val="F0F4FF"/>
                </a:solidFill>
                <a:latin typeface="Calibri" pitchFamily="34" charset="0"/>
                <a:ea typeface="Calibri" pitchFamily="34" charset="-122"/>
                <a:cs typeface="Calibri" pitchFamily="34" charset="-120"/>
              </a:rPr>
              <a:t>Answer — RQ1:  Scoring volume (PTS) is the #1 predictor. Assists, steals, and rebounds all contribute. FG% alone is weak.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txBody>
          <a:bodyPr/>
          <a:lstStyle/>
          <a:p>
            <a:endParaRPr lang="en-US"/>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RQ2: Does Position Group Matter?</a:t>
            </a:r>
            <a:endParaRPr lang="en-US" sz="2800" dirty="0"/>
          </a:p>
        </p:txBody>
      </p:sp>
      <p:sp>
        <p:nvSpPr>
          <p:cNvPr id="4" name="Text 2"/>
          <p:cNvSpPr/>
          <p:nvPr/>
        </p:nvSpPr>
        <p:spPr>
          <a:xfrm>
            <a:off x="457200" y="713232"/>
            <a:ext cx="8229600" cy="292608"/>
          </a:xfrm>
          <a:prstGeom prst="rect">
            <a:avLst/>
          </a:prstGeom>
          <a:noFill/>
          <a:ln/>
        </p:spPr>
        <p:txBody>
          <a:bodyPr wrap="square" lIns="0" tIns="0" rIns="0" bIns="0" rtlCol="0" anchor="ctr"/>
          <a:lstStyle/>
          <a:p>
            <a:pPr marL="0" indent="0">
              <a:buNone/>
            </a:pPr>
            <a:r>
              <a:rPr lang="en-US" sz="1300" i="1" dirty="0">
                <a:solidFill>
                  <a:srgbClr val="C9A84C"/>
                </a:solidFill>
                <a:latin typeface="Calibri" pitchFamily="34" charset="0"/>
                <a:ea typeface="Calibri" pitchFamily="34" charset="-122"/>
                <a:cs typeface="Calibri" pitchFamily="34" charset="-120"/>
              </a:rPr>
              <a:t>Visualization 2 — PER by Position &amp; Points vs PER Scatter</a:t>
            </a:r>
            <a:endParaRPr lang="en-US" sz="1300" dirty="0"/>
          </a:p>
        </p:txBody>
      </p:sp>
      <p:sp>
        <p:nvSpPr>
          <p:cNvPr id="5" name="Text 3"/>
          <p:cNvSpPr/>
          <p:nvPr/>
        </p:nvSpPr>
        <p:spPr>
          <a:xfrm>
            <a:off x="8046720" y="4846320"/>
            <a:ext cx="822960" cy="228600"/>
          </a:xfrm>
          <a:prstGeom prst="rect">
            <a:avLst/>
          </a:prstGeom>
          <a:noFill/>
          <a:ln/>
        </p:spPr>
        <p:txBody>
          <a:bodyPr wrap="square" lIns="0" tIns="0" rIns="0" bIns="0" rtlCol="0" anchor="ctr"/>
          <a:lstStyle/>
          <a:p>
            <a:pPr marL="0" indent="0" algn="r">
              <a:buNone/>
            </a:pPr>
            <a:r>
              <a:rPr lang="en-US" sz="900" dirty="0">
                <a:solidFill>
                  <a:srgbClr val="8FA3BF"/>
                </a:solidFill>
                <a:latin typeface="Calibri" pitchFamily="34" charset="0"/>
                <a:ea typeface="Calibri" pitchFamily="34" charset="-122"/>
                <a:cs typeface="Calibri" pitchFamily="34" charset="-120"/>
              </a:rPr>
              <a:t>5 / 8</a:t>
            </a:r>
            <a:endParaRPr lang="en-US" sz="900" dirty="0"/>
          </a:p>
        </p:txBody>
      </p:sp>
      <p:sp>
        <p:nvSpPr>
          <p:cNvPr id="6" name="Shape 4"/>
          <p:cNvSpPr/>
          <p:nvPr/>
        </p:nvSpPr>
        <p:spPr>
          <a:xfrm>
            <a:off x="320040" y="987552"/>
            <a:ext cx="2697480" cy="749808"/>
          </a:xfrm>
          <a:prstGeom prst="rect">
            <a:avLst/>
          </a:prstGeom>
          <a:solidFill>
            <a:srgbClr val="112240"/>
          </a:solidFill>
          <a:ln w="19050">
            <a:solidFill>
              <a:srgbClr val="1ABC9C"/>
            </a:solidFill>
            <a:prstDash val="solid"/>
          </a:ln>
          <a:effectLst>
            <a:outerShdw blurRad="101600" dist="38100" dir="8100000" algn="bl" rotWithShape="0">
              <a:srgbClr val="000000">
                <a:alpha val="18000"/>
              </a:srgbClr>
            </a:outerShdw>
          </a:effectLst>
        </p:spPr>
        <p:txBody>
          <a:bodyPr/>
          <a:lstStyle/>
          <a:p>
            <a:endParaRPr lang="en-US"/>
          </a:p>
        </p:txBody>
      </p:sp>
      <p:sp>
        <p:nvSpPr>
          <p:cNvPr id="7" name="Text 5"/>
          <p:cNvSpPr/>
          <p:nvPr/>
        </p:nvSpPr>
        <p:spPr>
          <a:xfrm>
            <a:off x="320040" y="1097280"/>
            <a:ext cx="2697480" cy="412394"/>
          </a:xfrm>
          <a:prstGeom prst="rect">
            <a:avLst/>
          </a:prstGeom>
          <a:noFill/>
          <a:ln/>
        </p:spPr>
        <p:txBody>
          <a:bodyPr wrap="square" lIns="0" tIns="0" rIns="0" bIns="0" rtlCol="0" anchor="ctr"/>
          <a:lstStyle/>
          <a:p>
            <a:pPr marL="0" indent="0" algn="ctr">
              <a:buNone/>
            </a:pPr>
            <a:r>
              <a:rPr lang="en-US" sz="3200" b="1" dirty="0">
                <a:solidFill>
                  <a:srgbClr val="1ABC9C"/>
                </a:solidFill>
                <a:latin typeface="Calibri" pitchFamily="34" charset="0"/>
                <a:ea typeface="Calibri" pitchFamily="34" charset="-122"/>
                <a:cs typeface="Calibri" pitchFamily="34" charset="-120"/>
              </a:rPr>
              <a:t>21.5</a:t>
            </a:r>
            <a:endParaRPr lang="en-US" sz="3200" dirty="0"/>
          </a:p>
        </p:txBody>
      </p:sp>
      <p:sp>
        <p:nvSpPr>
          <p:cNvPr id="8" name="Text 6"/>
          <p:cNvSpPr/>
          <p:nvPr/>
        </p:nvSpPr>
        <p:spPr>
          <a:xfrm>
            <a:off x="320040" y="1422441"/>
            <a:ext cx="2697480" cy="284927"/>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Avg PER — Centers</a:t>
            </a:r>
            <a:endParaRPr lang="en-US" sz="1100" dirty="0"/>
          </a:p>
        </p:txBody>
      </p:sp>
      <p:sp>
        <p:nvSpPr>
          <p:cNvPr id="9" name="Shape 7"/>
          <p:cNvSpPr/>
          <p:nvPr/>
        </p:nvSpPr>
        <p:spPr>
          <a:xfrm>
            <a:off x="3227832" y="987552"/>
            <a:ext cx="2697480" cy="749808"/>
          </a:xfrm>
          <a:prstGeom prst="rect">
            <a:avLst/>
          </a:prstGeom>
          <a:solidFill>
            <a:srgbClr val="112240"/>
          </a:solidFill>
          <a:ln w="19050">
            <a:solidFill>
              <a:srgbClr val="C9A84C"/>
            </a:solidFill>
            <a:prstDash val="solid"/>
          </a:ln>
          <a:effectLst>
            <a:outerShdw blurRad="101600" dist="38100" dir="8100000" algn="bl" rotWithShape="0">
              <a:srgbClr val="000000">
                <a:alpha val="18000"/>
              </a:srgbClr>
            </a:outerShdw>
          </a:effectLst>
        </p:spPr>
        <p:txBody>
          <a:bodyPr/>
          <a:lstStyle/>
          <a:p>
            <a:endParaRPr lang="en-US"/>
          </a:p>
        </p:txBody>
      </p:sp>
      <p:sp>
        <p:nvSpPr>
          <p:cNvPr id="10" name="Text 8"/>
          <p:cNvSpPr/>
          <p:nvPr/>
        </p:nvSpPr>
        <p:spPr>
          <a:xfrm>
            <a:off x="3227832" y="1097280"/>
            <a:ext cx="2697480" cy="412394"/>
          </a:xfrm>
          <a:prstGeom prst="rect">
            <a:avLst/>
          </a:prstGeom>
          <a:noFill/>
          <a:ln/>
        </p:spPr>
        <p:txBody>
          <a:bodyPr wrap="square" lIns="0" tIns="0" rIns="0" bIns="0" rtlCol="0" anchor="ctr"/>
          <a:lstStyle/>
          <a:p>
            <a:pPr marL="0" indent="0" algn="ctr">
              <a:buNone/>
            </a:pPr>
            <a:r>
              <a:rPr lang="en-US" sz="3200" b="1" dirty="0">
                <a:solidFill>
                  <a:srgbClr val="C9A84C"/>
                </a:solidFill>
                <a:latin typeface="Calibri" pitchFamily="34" charset="0"/>
                <a:ea typeface="Calibri" pitchFamily="34" charset="-122"/>
                <a:cs typeface="Calibri" pitchFamily="34" charset="-120"/>
              </a:rPr>
              <a:t>19.8</a:t>
            </a:r>
            <a:endParaRPr lang="en-US" sz="3200" dirty="0"/>
          </a:p>
        </p:txBody>
      </p:sp>
      <p:sp>
        <p:nvSpPr>
          <p:cNvPr id="11" name="Text 9"/>
          <p:cNvSpPr/>
          <p:nvPr/>
        </p:nvSpPr>
        <p:spPr>
          <a:xfrm>
            <a:off x="3227832" y="1422441"/>
            <a:ext cx="2697480" cy="284927"/>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Avg PER — Guards</a:t>
            </a:r>
            <a:endParaRPr lang="en-US" sz="1100" dirty="0"/>
          </a:p>
        </p:txBody>
      </p:sp>
      <p:sp>
        <p:nvSpPr>
          <p:cNvPr id="12" name="Shape 10"/>
          <p:cNvSpPr/>
          <p:nvPr/>
        </p:nvSpPr>
        <p:spPr>
          <a:xfrm>
            <a:off x="6126480" y="987552"/>
            <a:ext cx="2697480" cy="749808"/>
          </a:xfrm>
          <a:prstGeom prst="rect">
            <a:avLst/>
          </a:prstGeom>
          <a:solidFill>
            <a:srgbClr val="112240"/>
          </a:solidFill>
          <a:ln w="19050">
            <a:solidFill>
              <a:srgbClr val="5DADE2"/>
            </a:solidFill>
            <a:prstDash val="solid"/>
          </a:ln>
          <a:effectLst>
            <a:outerShdw blurRad="101600" dist="38100" dir="8100000" algn="bl" rotWithShape="0">
              <a:srgbClr val="000000">
                <a:alpha val="18000"/>
              </a:srgbClr>
            </a:outerShdw>
          </a:effectLst>
        </p:spPr>
        <p:txBody>
          <a:bodyPr/>
          <a:lstStyle/>
          <a:p>
            <a:endParaRPr lang="en-US"/>
          </a:p>
        </p:txBody>
      </p:sp>
      <p:sp>
        <p:nvSpPr>
          <p:cNvPr id="13" name="Text 11"/>
          <p:cNvSpPr/>
          <p:nvPr/>
        </p:nvSpPr>
        <p:spPr>
          <a:xfrm>
            <a:off x="6126480" y="1097280"/>
            <a:ext cx="2697480" cy="412394"/>
          </a:xfrm>
          <a:prstGeom prst="rect">
            <a:avLst/>
          </a:prstGeom>
          <a:noFill/>
          <a:ln/>
        </p:spPr>
        <p:txBody>
          <a:bodyPr wrap="square" lIns="0" tIns="0" rIns="0" bIns="0" rtlCol="0" anchor="ctr"/>
          <a:lstStyle/>
          <a:p>
            <a:pPr marL="0" indent="0" algn="ctr">
              <a:buNone/>
            </a:pPr>
            <a:r>
              <a:rPr lang="en-US" sz="3200" b="1" dirty="0">
                <a:solidFill>
                  <a:srgbClr val="5DADE2"/>
                </a:solidFill>
                <a:latin typeface="Calibri" pitchFamily="34" charset="0"/>
                <a:ea typeface="Calibri" pitchFamily="34" charset="-122"/>
                <a:cs typeface="Calibri" pitchFamily="34" charset="-120"/>
              </a:rPr>
              <a:t>16.7</a:t>
            </a:r>
            <a:endParaRPr lang="en-US" sz="3200" dirty="0"/>
          </a:p>
        </p:txBody>
      </p:sp>
      <p:sp>
        <p:nvSpPr>
          <p:cNvPr id="14" name="Text 12"/>
          <p:cNvSpPr/>
          <p:nvPr/>
        </p:nvSpPr>
        <p:spPr>
          <a:xfrm>
            <a:off x="6126480" y="1422441"/>
            <a:ext cx="2697480" cy="284927"/>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Avg PER — Forwards</a:t>
            </a:r>
            <a:endParaRPr lang="en-US" sz="1100" dirty="0"/>
          </a:p>
        </p:txBody>
      </p:sp>
      <p:pic>
        <p:nvPicPr>
          <p:cNvPr id="15" name="Image 0" descr="preencoded.png"/>
          <p:cNvPicPr>
            <a:picLocks noChangeAspect="1"/>
          </p:cNvPicPr>
          <p:nvPr/>
        </p:nvPicPr>
        <p:blipFill>
          <a:blip r:embed="rId3"/>
          <a:stretch>
            <a:fillRect/>
          </a:stretch>
        </p:blipFill>
        <p:spPr>
          <a:xfrm>
            <a:off x="228600" y="1828800"/>
            <a:ext cx="8686800" cy="3200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txBody>
          <a:bodyPr/>
          <a:lstStyle/>
          <a:p>
            <a:endParaRPr lang="en-US"/>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RQ3: Can We Predict PER?</a:t>
            </a:r>
            <a:endParaRPr lang="en-US" sz="2800" dirty="0"/>
          </a:p>
        </p:txBody>
      </p:sp>
      <p:sp>
        <p:nvSpPr>
          <p:cNvPr id="4" name="Text 2"/>
          <p:cNvSpPr/>
          <p:nvPr/>
        </p:nvSpPr>
        <p:spPr>
          <a:xfrm>
            <a:off x="457200" y="713232"/>
            <a:ext cx="8229600" cy="292608"/>
          </a:xfrm>
          <a:prstGeom prst="rect">
            <a:avLst/>
          </a:prstGeom>
          <a:noFill/>
          <a:ln/>
        </p:spPr>
        <p:txBody>
          <a:bodyPr wrap="square" lIns="0" tIns="0" rIns="0" bIns="0" rtlCol="0" anchor="ctr"/>
          <a:lstStyle/>
          <a:p>
            <a:pPr marL="0" indent="0">
              <a:buNone/>
            </a:pPr>
            <a:r>
              <a:rPr lang="en-US" sz="1300" i="1" dirty="0">
                <a:solidFill>
                  <a:srgbClr val="C9A84C"/>
                </a:solidFill>
                <a:latin typeface="Calibri" pitchFamily="34" charset="0"/>
                <a:ea typeface="Calibri" pitchFamily="34" charset="-122"/>
                <a:cs typeface="Calibri" pitchFamily="34" charset="-120"/>
              </a:rPr>
              <a:t>Visualization 3 — Multiple Linear Regression Model</a:t>
            </a:r>
            <a:endParaRPr lang="en-US" sz="1300" dirty="0"/>
          </a:p>
        </p:txBody>
      </p:sp>
      <p:sp>
        <p:nvSpPr>
          <p:cNvPr id="5" name="Text 3"/>
          <p:cNvSpPr/>
          <p:nvPr/>
        </p:nvSpPr>
        <p:spPr>
          <a:xfrm>
            <a:off x="8046720" y="4846320"/>
            <a:ext cx="822960" cy="228600"/>
          </a:xfrm>
          <a:prstGeom prst="rect">
            <a:avLst/>
          </a:prstGeom>
          <a:noFill/>
          <a:ln/>
        </p:spPr>
        <p:txBody>
          <a:bodyPr wrap="square" lIns="0" tIns="0" rIns="0" bIns="0" rtlCol="0" anchor="ctr"/>
          <a:lstStyle/>
          <a:p>
            <a:pPr marL="0" indent="0" algn="r">
              <a:buNone/>
            </a:pPr>
            <a:r>
              <a:rPr lang="en-US" sz="900" dirty="0">
                <a:solidFill>
                  <a:srgbClr val="8FA3BF"/>
                </a:solidFill>
                <a:latin typeface="Calibri" pitchFamily="34" charset="0"/>
                <a:ea typeface="Calibri" pitchFamily="34" charset="-122"/>
                <a:cs typeface="Calibri" pitchFamily="34" charset="-120"/>
              </a:rPr>
              <a:t>6 / 8</a:t>
            </a:r>
            <a:endParaRPr lang="en-US" sz="900" dirty="0"/>
          </a:p>
        </p:txBody>
      </p:sp>
      <p:sp>
        <p:nvSpPr>
          <p:cNvPr id="6" name="Shape 4"/>
          <p:cNvSpPr/>
          <p:nvPr/>
        </p:nvSpPr>
        <p:spPr>
          <a:xfrm>
            <a:off x="320040" y="1005840"/>
            <a:ext cx="2011680" cy="868680"/>
          </a:xfrm>
          <a:prstGeom prst="rect">
            <a:avLst/>
          </a:prstGeom>
          <a:solidFill>
            <a:srgbClr val="112240"/>
          </a:solidFill>
          <a:ln w="19050">
            <a:solidFill>
              <a:srgbClr val="C9A84C"/>
            </a:solidFill>
            <a:prstDash val="solid"/>
          </a:ln>
          <a:effectLst>
            <a:outerShdw blurRad="101600" dist="38100" dir="8100000" algn="bl" rotWithShape="0">
              <a:srgbClr val="000000">
                <a:alpha val="18000"/>
              </a:srgbClr>
            </a:outerShdw>
          </a:effectLst>
        </p:spPr>
        <p:txBody>
          <a:bodyPr/>
          <a:lstStyle/>
          <a:p>
            <a:endParaRPr lang="en-US"/>
          </a:p>
        </p:txBody>
      </p:sp>
      <p:sp>
        <p:nvSpPr>
          <p:cNvPr id="7" name="Text 5"/>
          <p:cNvSpPr/>
          <p:nvPr/>
        </p:nvSpPr>
        <p:spPr>
          <a:xfrm>
            <a:off x="320040" y="1115568"/>
            <a:ext cx="2011680" cy="477774"/>
          </a:xfrm>
          <a:prstGeom prst="rect">
            <a:avLst/>
          </a:prstGeom>
          <a:noFill/>
          <a:ln/>
        </p:spPr>
        <p:txBody>
          <a:bodyPr wrap="square" lIns="0" tIns="0" rIns="0" bIns="0" rtlCol="0" anchor="ctr"/>
          <a:lstStyle/>
          <a:p>
            <a:pPr marL="0" indent="0" algn="ctr">
              <a:buNone/>
            </a:pPr>
            <a:r>
              <a:rPr lang="en-US" sz="3200" b="1" dirty="0">
                <a:solidFill>
                  <a:srgbClr val="C9A84C"/>
                </a:solidFill>
                <a:latin typeface="Calibri" pitchFamily="34" charset="0"/>
                <a:ea typeface="Calibri" pitchFamily="34" charset="-122"/>
                <a:cs typeface="Calibri" pitchFamily="34" charset="-120"/>
              </a:rPr>
              <a:t>0.954</a:t>
            </a:r>
            <a:endParaRPr lang="en-US" sz="3200" dirty="0"/>
          </a:p>
        </p:txBody>
      </p:sp>
      <p:sp>
        <p:nvSpPr>
          <p:cNvPr id="8" name="Text 6"/>
          <p:cNvSpPr/>
          <p:nvPr/>
        </p:nvSpPr>
        <p:spPr>
          <a:xfrm>
            <a:off x="320040" y="1509674"/>
            <a:ext cx="2011680" cy="330098"/>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R² Score</a:t>
            </a:r>
            <a:endParaRPr lang="en-US" sz="1100" dirty="0"/>
          </a:p>
        </p:txBody>
      </p:sp>
      <p:sp>
        <p:nvSpPr>
          <p:cNvPr id="9" name="Shape 7"/>
          <p:cNvSpPr/>
          <p:nvPr/>
        </p:nvSpPr>
        <p:spPr>
          <a:xfrm>
            <a:off x="2468880" y="1005840"/>
            <a:ext cx="2011680" cy="868680"/>
          </a:xfrm>
          <a:prstGeom prst="rect">
            <a:avLst/>
          </a:prstGeom>
          <a:solidFill>
            <a:srgbClr val="112240"/>
          </a:solidFill>
          <a:ln w="19050">
            <a:solidFill>
              <a:srgbClr val="1ABC9C"/>
            </a:solidFill>
            <a:prstDash val="solid"/>
          </a:ln>
          <a:effectLst>
            <a:outerShdw blurRad="101600" dist="38100" dir="8100000" algn="bl" rotWithShape="0">
              <a:srgbClr val="000000">
                <a:alpha val="18000"/>
              </a:srgbClr>
            </a:outerShdw>
          </a:effectLst>
        </p:spPr>
        <p:txBody>
          <a:bodyPr/>
          <a:lstStyle/>
          <a:p>
            <a:endParaRPr lang="en-US"/>
          </a:p>
        </p:txBody>
      </p:sp>
      <p:sp>
        <p:nvSpPr>
          <p:cNvPr id="10" name="Text 8"/>
          <p:cNvSpPr/>
          <p:nvPr/>
        </p:nvSpPr>
        <p:spPr>
          <a:xfrm>
            <a:off x="2468880" y="1115568"/>
            <a:ext cx="2011680" cy="477774"/>
          </a:xfrm>
          <a:prstGeom prst="rect">
            <a:avLst/>
          </a:prstGeom>
          <a:noFill/>
          <a:ln/>
        </p:spPr>
        <p:txBody>
          <a:bodyPr wrap="square" lIns="0" tIns="0" rIns="0" bIns="0" rtlCol="0" anchor="ctr"/>
          <a:lstStyle/>
          <a:p>
            <a:pPr marL="0" indent="0" algn="ctr">
              <a:buNone/>
            </a:pPr>
            <a:r>
              <a:rPr lang="en-US" sz="3200" b="1" dirty="0">
                <a:solidFill>
                  <a:srgbClr val="1ABC9C"/>
                </a:solidFill>
                <a:latin typeface="Calibri" pitchFamily="34" charset="0"/>
                <a:ea typeface="Calibri" pitchFamily="34" charset="-122"/>
                <a:cs typeface="Calibri" pitchFamily="34" charset="-120"/>
              </a:rPr>
              <a:t>1.19</a:t>
            </a:r>
            <a:endParaRPr lang="en-US" sz="3200" dirty="0"/>
          </a:p>
        </p:txBody>
      </p:sp>
      <p:sp>
        <p:nvSpPr>
          <p:cNvPr id="11" name="Text 9"/>
          <p:cNvSpPr/>
          <p:nvPr/>
        </p:nvSpPr>
        <p:spPr>
          <a:xfrm>
            <a:off x="2468880" y="1509674"/>
            <a:ext cx="2011680" cy="330098"/>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RMSE (PER pts)</a:t>
            </a:r>
            <a:endParaRPr lang="en-US" sz="1100" dirty="0"/>
          </a:p>
        </p:txBody>
      </p:sp>
      <p:sp>
        <p:nvSpPr>
          <p:cNvPr id="12" name="Shape 10"/>
          <p:cNvSpPr/>
          <p:nvPr/>
        </p:nvSpPr>
        <p:spPr>
          <a:xfrm>
            <a:off x="4617720" y="1005840"/>
            <a:ext cx="2011680" cy="868680"/>
          </a:xfrm>
          <a:prstGeom prst="rect">
            <a:avLst/>
          </a:prstGeom>
          <a:solidFill>
            <a:srgbClr val="112240"/>
          </a:solidFill>
          <a:ln w="19050">
            <a:solidFill>
              <a:srgbClr val="5DADE2"/>
            </a:solidFill>
            <a:prstDash val="solid"/>
          </a:ln>
          <a:effectLst>
            <a:outerShdw blurRad="101600" dist="38100" dir="8100000" algn="bl" rotWithShape="0">
              <a:srgbClr val="000000">
                <a:alpha val="18000"/>
              </a:srgbClr>
            </a:outerShdw>
          </a:effectLst>
        </p:spPr>
        <p:txBody>
          <a:bodyPr/>
          <a:lstStyle/>
          <a:p>
            <a:endParaRPr lang="en-US"/>
          </a:p>
        </p:txBody>
      </p:sp>
      <p:sp>
        <p:nvSpPr>
          <p:cNvPr id="13" name="Text 11"/>
          <p:cNvSpPr/>
          <p:nvPr/>
        </p:nvSpPr>
        <p:spPr>
          <a:xfrm>
            <a:off x="4617720" y="1115568"/>
            <a:ext cx="2011680" cy="477774"/>
          </a:xfrm>
          <a:prstGeom prst="rect">
            <a:avLst/>
          </a:prstGeom>
          <a:noFill/>
          <a:ln/>
        </p:spPr>
        <p:txBody>
          <a:bodyPr wrap="square" lIns="0" tIns="0" rIns="0" bIns="0" rtlCol="0" anchor="ctr"/>
          <a:lstStyle/>
          <a:p>
            <a:pPr marL="0" indent="0" algn="ctr">
              <a:buNone/>
            </a:pPr>
            <a:r>
              <a:rPr lang="en-US" sz="3200" b="1" dirty="0">
                <a:solidFill>
                  <a:srgbClr val="5DADE2"/>
                </a:solidFill>
                <a:latin typeface="Calibri" pitchFamily="34" charset="0"/>
                <a:ea typeface="Calibri" pitchFamily="34" charset="-122"/>
                <a:cs typeface="Calibri" pitchFamily="34" charset="-120"/>
              </a:rPr>
              <a:t>95.4%</a:t>
            </a:r>
            <a:endParaRPr lang="en-US" sz="3200" dirty="0"/>
          </a:p>
        </p:txBody>
      </p:sp>
      <p:sp>
        <p:nvSpPr>
          <p:cNvPr id="14" name="Text 12"/>
          <p:cNvSpPr/>
          <p:nvPr/>
        </p:nvSpPr>
        <p:spPr>
          <a:xfrm>
            <a:off x="4617720" y="1509674"/>
            <a:ext cx="2011680" cy="330098"/>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Variance Explained</a:t>
            </a:r>
            <a:endParaRPr lang="en-US" sz="1100" dirty="0"/>
          </a:p>
        </p:txBody>
      </p:sp>
      <p:sp>
        <p:nvSpPr>
          <p:cNvPr id="15" name="Shape 13"/>
          <p:cNvSpPr/>
          <p:nvPr/>
        </p:nvSpPr>
        <p:spPr>
          <a:xfrm>
            <a:off x="6766560" y="1005840"/>
            <a:ext cx="2103120" cy="868680"/>
          </a:xfrm>
          <a:prstGeom prst="rect">
            <a:avLst/>
          </a:prstGeom>
          <a:solidFill>
            <a:srgbClr val="112240"/>
          </a:solidFill>
          <a:ln w="19050">
            <a:solidFill>
              <a:srgbClr val="8FA3BF"/>
            </a:solidFill>
            <a:prstDash val="solid"/>
          </a:ln>
          <a:effectLst>
            <a:outerShdw blurRad="101600" dist="38100" dir="8100000" algn="bl" rotWithShape="0">
              <a:srgbClr val="000000">
                <a:alpha val="18000"/>
              </a:srgbClr>
            </a:outerShdw>
          </a:effectLst>
        </p:spPr>
        <p:txBody>
          <a:bodyPr/>
          <a:lstStyle/>
          <a:p>
            <a:endParaRPr lang="en-US"/>
          </a:p>
        </p:txBody>
      </p:sp>
      <p:sp>
        <p:nvSpPr>
          <p:cNvPr id="16" name="Text 14"/>
          <p:cNvSpPr/>
          <p:nvPr/>
        </p:nvSpPr>
        <p:spPr>
          <a:xfrm>
            <a:off x="6766560" y="1115568"/>
            <a:ext cx="2103120" cy="477774"/>
          </a:xfrm>
          <a:prstGeom prst="rect">
            <a:avLst/>
          </a:prstGeom>
          <a:noFill/>
          <a:ln/>
        </p:spPr>
        <p:txBody>
          <a:bodyPr wrap="square" lIns="0" tIns="0" rIns="0" bIns="0" rtlCol="0" anchor="ctr"/>
          <a:lstStyle/>
          <a:p>
            <a:pPr marL="0" indent="0" algn="ctr">
              <a:buNone/>
            </a:pPr>
            <a:r>
              <a:rPr lang="en-US" sz="3200" b="1" dirty="0">
                <a:solidFill>
                  <a:srgbClr val="8FA3BF"/>
                </a:solidFill>
                <a:latin typeface="Calibri" pitchFamily="34" charset="0"/>
                <a:ea typeface="Calibri" pitchFamily="34" charset="-122"/>
                <a:cs typeface="Calibri" pitchFamily="34" charset="-120"/>
              </a:rPr>
              <a:t>70/30</a:t>
            </a:r>
            <a:endParaRPr lang="en-US" sz="3200" dirty="0"/>
          </a:p>
        </p:txBody>
      </p:sp>
      <p:sp>
        <p:nvSpPr>
          <p:cNvPr id="17" name="Text 15"/>
          <p:cNvSpPr/>
          <p:nvPr/>
        </p:nvSpPr>
        <p:spPr>
          <a:xfrm>
            <a:off x="6766560" y="1509674"/>
            <a:ext cx="2103120" cy="330098"/>
          </a:xfrm>
          <a:prstGeom prst="rect">
            <a:avLst/>
          </a:prstGeom>
          <a:noFill/>
          <a:ln/>
        </p:spPr>
        <p:txBody>
          <a:bodyPr wrap="square" lIns="0" tIns="0" rIns="0" bIns="0" rtlCol="0" anchor="ctr"/>
          <a:lstStyle/>
          <a:p>
            <a:pPr marL="0" indent="0" algn="ctr">
              <a:buNone/>
            </a:pPr>
            <a:r>
              <a:rPr lang="en-US" sz="1100" dirty="0">
                <a:solidFill>
                  <a:srgbClr val="8FA3BF"/>
                </a:solidFill>
                <a:latin typeface="Calibri" pitchFamily="34" charset="0"/>
                <a:ea typeface="Calibri" pitchFamily="34" charset="-122"/>
                <a:cs typeface="Calibri" pitchFamily="34" charset="-120"/>
              </a:rPr>
              <a:t>Train/Test Split</a:t>
            </a:r>
            <a:endParaRPr lang="en-US" sz="1100" dirty="0"/>
          </a:p>
        </p:txBody>
      </p:sp>
      <p:pic>
        <p:nvPicPr>
          <p:cNvPr id="18" name="Image 0" descr="preencoded.png"/>
          <p:cNvPicPr>
            <a:picLocks noChangeAspect="1"/>
          </p:cNvPicPr>
          <p:nvPr/>
        </p:nvPicPr>
        <p:blipFill>
          <a:blip r:embed="rId3"/>
          <a:stretch>
            <a:fillRect/>
          </a:stretch>
        </p:blipFill>
        <p:spPr>
          <a:xfrm>
            <a:off x="228600" y="2011680"/>
            <a:ext cx="8686800" cy="2606040"/>
          </a:xfrm>
          <a:prstGeom prst="rect">
            <a:avLst/>
          </a:prstGeom>
        </p:spPr>
      </p:pic>
      <p:sp>
        <p:nvSpPr>
          <p:cNvPr id="19" name="Shape 16"/>
          <p:cNvSpPr/>
          <p:nvPr/>
        </p:nvSpPr>
        <p:spPr>
          <a:xfrm>
            <a:off x="228600" y="4745736"/>
            <a:ext cx="8686800" cy="301752"/>
          </a:xfrm>
          <a:prstGeom prst="rect">
            <a:avLst/>
          </a:prstGeom>
          <a:solidFill>
            <a:srgbClr val="0D2137"/>
          </a:solidFill>
          <a:ln w="9525">
            <a:solidFill>
              <a:srgbClr val="1ABC9C"/>
            </a:solidFill>
            <a:prstDash val="solid"/>
          </a:ln>
        </p:spPr>
        <p:txBody>
          <a:bodyPr/>
          <a:lstStyle/>
          <a:p>
            <a:endParaRPr lang="en-US"/>
          </a:p>
        </p:txBody>
      </p:sp>
      <p:sp>
        <p:nvSpPr>
          <p:cNvPr id="20" name="Text 17"/>
          <p:cNvSpPr/>
          <p:nvPr/>
        </p:nvSpPr>
        <p:spPr>
          <a:xfrm>
            <a:off x="365760" y="4764024"/>
            <a:ext cx="8412480" cy="256032"/>
          </a:xfrm>
          <a:prstGeom prst="rect">
            <a:avLst/>
          </a:prstGeom>
          <a:noFill/>
          <a:ln/>
        </p:spPr>
        <p:txBody>
          <a:bodyPr wrap="square" lIns="0" tIns="0" rIns="0" bIns="0" rtlCol="0" anchor="ctr"/>
          <a:lstStyle/>
          <a:p>
            <a:pPr marL="0" indent="0">
              <a:buNone/>
            </a:pPr>
            <a:r>
              <a:rPr lang="en-US" sz="1100" i="1" dirty="0">
                <a:solidFill>
                  <a:srgbClr val="F0F4FF"/>
                </a:solidFill>
                <a:latin typeface="Calibri" pitchFamily="34" charset="0"/>
                <a:ea typeface="Calibri" pitchFamily="34" charset="-122"/>
                <a:cs typeface="Calibri" pitchFamily="34" charset="-120"/>
              </a:rPr>
              <a:t>Answer — RQ3:  Yes. Box score stats predict PER with 95% accuracy. Points, Rebounds, and Assists are the top 3 drivers. Turnovers hurt.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txBody>
          <a:bodyPr/>
          <a:lstStyle/>
          <a:p>
            <a:endParaRPr lang="en-US"/>
          </a:p>
        </p:txBody>
      </p:sp>
      <p:sp>
        <p:nvSpPr>
          <p:cNvPr id="3" name="Text 1"/>
          <p:cNvSpPr/>
          <p:nvPr/>
        </p:nvSpPr>
        <p:spPr>
          <a:xfrm>
            <a:off x="457200" y="164592"/>
            <a:ext cx="8229600" cy="54864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Top 15 Players by PER — 2023–24</a:t>
            </a:r>
            <a:endParaRPr lang="en-US" sz="2800" dirty="0"/>
          </a:p>
        </p:txBody>
      </p:sp>
      <p:sp>
        <p:nvSpPr>
          <p:cNvPr id="4" name="Text 2"/>
          <p:cNvSpPr/>
          <p:nvPr/>
        </p:nvSpPr>
        <p:spPr>
          <a:xfrm>
            <a:off x="457200" y="713232"/>
            <a:ext cx="8229600" cy="292608"/>
          </a:xfrm>
          <a:prstGeom prst="rect">
            <a:avLst/>
          </a:prstGeom>
          <a:noFill/>
          <a:ln/>
        </p:spPr>
        <p:txBody>
          <a:bodyPr wrap="square" lIns="0" tIns="0" rIns="0" bIns="0" rtlCol="0" anchor="ctr"/>
          <a:lstStyle/>
          <a:p>
            <a:pPr marL="0" indent="0">
              <a:buNone/>
            </a:pPr>
            <a:r>
              <a:rPr lang="en-US" sz="1300" i="1" dirty="0">
                <a:solidFill>
                  <a:srgbClr val="C9A84C"/>
                </a:solidFill>
                <a:latin typeface="Calibri" pitchFamily="34" charset="0"/>
                <a:ea typeface="Calibri" pitchFamily="34" charset="-122"/>
                <a:cs typeface="Calibri" pitchFamily="34" charset="-120"/>
              </a:rPr>
              <a:t>Visualization 4 — Rankings with Per-Game Stats</a:t>
            </a:r>
            <a:endParaRPr lang="en-US" sz="1300" dirty="0"/>
          </a:p>
        </p:txBody>
      </p:sp>
      <p:sp>
        <p:nvSpPr>
          <p:cNvPr id="5" name="Text 3"/>
          <p:cNvSpPr/>
          <p:nvPr/>
        </p:nvSpPr>
        <p:spPr>
          <a:xfrm>
            <a:off x="8046720" y="4846320"/>
            <a:ext cx="822960" cy="228600"/>
          </a:xfrm>
          <a:prstGeom prst="rect">
            <a:avLst/>
          </a:prstGeom>
          <a:noFill/>
          <a:ln/>
        </p:spPr>
        <p:txBody>
          <a:bodyPr wrap="square" lIns="0" tIns="0" rIns="0" bIns="0" rtlCol="0" anchor="ctr"/>
          <a:lstStyle/>
          <a:p>
            <a:pPr marL="0" indent="0" algn="r">
              <a:buNone/>
            </a:pPr>
            <a:r>
              <a:rPr lang="en-US" sz="900" dirty="0">
                <a:solidFill>
                  <a:srgbClr val="8FA3BF"/>
                </a:solidFill>
                <a:latin typeface="Calibri" pitchFamily="34" charset="0"/>
                <a:ea typeface="Calibri" pitchFamily="34" charset="-122"/>
                <a:cs typeface="Calibri" pitchFamily="34" charset="-120"/>
              </a:rPr>
              <a:t>7 / 8</a:t>
            </a:r>
            <a:endParaRPr lang="en-US" sz="900" dirty="0"/>
          </a:p>
        </p:txBody>
      </p:sp>
      <p:pic>
        <p:nvPicPr>
          <p:cNvPr id="6" name="Image 0" descr="preencoded.png"/>
          <p:cNvPicPr>
            <a:picLocks noChangeAspect="1"/>
          </p:cNvPicPr>
          <p:nvPr/>
        </p:nvPicPr>
        <p:blipFill>
          <a:blip r:embed="rId3"/>
          <a:stretch>
            <a:fillRect/>
          </a:stretch>
        </p:blipFill>
        <p:spPr>
          <a:xfrm>
            <a:off x="228600" y="960120"/>
            <a:ext cx="8686800" cy="3840480"/>
          </a:xfrm>
          <a:prstGeom prst="rect">
            <a:avLst/>
          </a:prstGeom>
        </p:spPr>
      </p:pic>
      <p:sp>
        <p:nvSpPr>
          <p:cNvPr id="7" name="Shape 4"/>
          <p:cNvSpPr/>
          <p:nvPr/>
        </p:nvSpPr>
        <p:spPr>
          <a:xfrm>
            <a:off x="1463040" y="4800600"/>
            <a:ext cx="201168" cy="201168"/>
          </a:xfrm>
          <a:prstGeom prst="rect">
            <a:avLst/>
          </a:prstGeom>
          <a:solidFill>
            <a:srgbClr val="E63946"/>
          </a:solidFill>
          <a:ln w="12700">
            <a:solidFill>
              <a:srgbClr val="E63946"/>
            </a:solidFill>
            <a:prstDash val="solid"/>
          </a:ln>
        </p:spPr>
        <p:txBody>
          <a:bodyPr/>
          <a:lstStyle/>
          <a:p>
            <a:endParaRPr lang="en-US"/>
          </a:p>
        </p:txBody>
      </p:sp>
      <p:sp>
        <p:nvSpPr>
          <p:cNvPr id="8" name="Text 5"/>
          <p:cNvSpPr/>
          <p:nvPr/>
        </p:nvSpPr>
        <p:spPr>
          <a:xfrm>
            <a:off x="1737360" y="4791456"/>
            <a:ext cx="1371600" cy="219456"/>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Guard</a:t>
            </a:r>
            <a:endParaRPr lang="en-US" sz="1200" dirty="0"/>
          </a:p>
        </p:txBody>
      </p:sp>
      <p:sp>
        <p:nvSpPr>
          <p:cNvPr id="9" name="Shape 6"/>
          <p:cNvSpPr/>
          <p:nvPr/>
        </p:nvSpPr>
        <p:spPr>
          <a:xfrm>
            <a:off x="3749040" y="4800600"/>
            <a:ext cx="201168" cy="201168"/>
          </a:xfrm>
          <a:prstGeom prst="rect">
            <a:avLst/>
          </a:prstGeom>
          <a:solidFill>
            <a:srgbClr val="2A9D8F"/>
          </a:solidFill>
          <a:ln w="12700">
            <a:solidFill>
              <a:srgbClr val="2A9D8F"/>
            </a:solidFill>
            <a:prstDash val="solid"/>
          </a:ln>
        </p:spPr>
        <p:txBody>
          <a:bodyPr/>
          <a:lstStyle/>
          <a:p>
            <a:endParaRPr lang="en-US"/>
          </a:p>
        </p:txBody>
      </p:sp>
      <p:sp>
        <p:nvSpPr>
          <p:cNvPr id="10" name="Text 7"/>
          <p:cNvSpPr/>
          <p:nvPr/>
        </p:nvSpPr>
        <p:spPr>
          <a:xfrm>
            <a:off x="4023360" y="4791456"/>
            <a:ext cx="1371600" cy="219456"/>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Forward</a:t>
            </a:r>
            <a:endParaRPr lang="en-US" sz="1200" dirty="0"/>
          </a:p>
        </p:txBody>
      </p:sp>
      <p:sp>
        <p:nvSpPr>
          <p:cNvPr id="11" name="Shape 8"/>
          <p:cNvSpPr/>
          <p:nvPr/>
        </p:nvSpPr>
        <p:spPr>
          <a:xfrm>
            <a:off x="6035040" y="4800600"/>
            <a:ext cx="201168" cy="201168"/>
          </a:xfrm>
          <a:prstGeom prst="rect">
            <a:avLst/>
          </a:prstGeom>
          <a:solidFill>
            <a:srgbClr val="457B9D"/>
          </a:solidFill>
          <a:ln w="12700">
            <a:solidFill>
              <a:srgbClr val="457B9D"/>
            </a:solidFill>
            <a:prstDash val="solid"/>
          </a:ln>
        </p:spPr>
        <p:txBody>
          <a:bodyPr/>
          <a:lstStyle/>
          <a:p>
            <a:endParaRPr lang="en-US"/>
          </a:p>
        </p:txBody>
      </p:sp>
      <p:sp>
        <p:nvSpPr>
          <p:cNvPr id="12" name="Text 9"/>
          <p:cNvSpPr/>
          <p:nvPr/>
        </p:nvSpPr>
        <p:spPr>
          <a:xfrm>
            <a:off x="6309360" y="4791456"/>
            <a:ext cx="1371600" cy="219456"/>
          </a:xfrm>
          <a:prstGeom prst="rect">
            <a:avLst/>
          </a:prstGeom>
          <a:noFill/>
          <a:ln/>
        </p:spPr>
        <p:txBody>
          <a:bodyPr wrap="square" lIns="0" tIns="0" rIns="0" bIns="0" rtlCol="0" anchor="ctr"/>
          <a:lstStyle/>
          <a:p>
            <a:pPr marL="0" indent="0">
              <a:buNone/>
            </a:pPr>
            <a:r>
              <a:rPr lang="en-US" sz="1200" dirty="0">
                <a:solidFill>
                  <a:srgbClr val="F0F4FF"/>
                </a:solidFill>
                <a:latin typeface="Calibri" pitchFamily="34" charset="0"/>
                <a:ea typeface="Calibri" pitchFamily="34" charset="-122"/>
                <a:cs typeface="Calibri" pitchFamily="34" charset="-120"/>
              </a:rPr>
              <a:t>Center</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9A84C"/>
          </a:solidFill>
          <a:ln w="12700">
            <a:solidFill>
              <a:srgbClr val="C9A84C"/>
            </a:solidFill>
            <a:prstDash val="solid"/>
          </a:ln>
        </p:spPr>
        <p:txBody>
          <a:bodyPr/>
          <a:lstStyle/>
          <a:p>
            <a:endParaRPr lang="en-US"/>
          </a:p>
        </p:txBody>
      </p:sp>
      <p:pic>
        <p:nvPicPr>
          <p:cNvPr id="3" name="Image 0" descr="preencoded.png"/>
          <p:cNvPicPr>
            <a:picLocks noChangeAspect="1"/>
          </p:cNvPicPr>
          <p:nvPr/>
        </p:nvPicPr>
        <p:blipFill>
          <a:blip r:embed="rId3"/>
          <a:stretch>
            <a:fillRect/>
          </a:stretch>
        </p:blipFill>
        <p:spPr>
          <a:xfrm>
            <a:off x="411480" y="182880"/>
            <a:ext cx="502920" cy="502920"/>
          </a:xfrm>
          <a:prstGeom prst="rect">
            <a:avLst/>
          </a:prstGeom>
        </p:spPr>
      </p:pic>
      <p:sp>
        <p:nvSpPr>
          <p:cNvPr id="4" name="Text 1"/>
          <p:cNvSpPr/>
          <p:nvPr/>
        </p:nvSpPr>
        <p:spPr>
          <a:xfrm>
            <a:off x="1005840" y="201168"/>
            <a:ext cx="7772400" cy="45720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Conclusions &amp; Takeaways</a:t>
            </a:r>
            <a:endParaRPr lang="en-US" sz="2800" dirty="0"/>
          </a:p>
        </p:txBody>
      </p:sp>
      <p:sp>
        <p:nvSpPr>
          <p:cNvPr id="5" name="Shape 2"/>
          <p:cNvSpPr/>
          <p:nvPr/>
        </p:nvSpPr>
        <p:spPr>
          <a:xfrm>
            <a:off x="274320" y="804672"/>
            <a:ext cx="2834640" cy="3108960"/>
          </a:xfrm>
          <a:prstGeom prst="rect">
            <a:avLst/>
          </a:prstGeom>
          <a:solidFill>
            <a:srgbClr val="112240"/>
          </a:solidFill>
          <a:ln w="19050">
            <a:solidFill>
              <a:srgbClr val="F5A623"/>
            </a:solidFill>
            <a:prstDash val="solid"/>
          </a:ln>
          <a:effectLst>
            <a:outerShdw blurRad="101600" dist="38100" dir="8100000" algn="bl" rotWithShape="0">
              <a:srgbClr val="000000">
                <a:alpha val="18000"/>
              </a:srgbClr>
            </a:outerShdw>
          </a:effectLst>
        </p:spPr>
        <p:txBody>
          <a:bodyPr/>
          <a:lstStyle/>
          <a:p>
            <a:endParaRPr lang="en-US"/>
          </a:p>
        </p:txBody>
      </p:sp>
      <p:sp>
        <p:nvSpPr>
          <p:cNvPr id="6" name="Shape 3"/>
          <p:cNvSpPr/>
          <p:nvPr/>
        </p:nvSpPr>
        <p:spPr>
          <a:xfrm>
            <a:off x="274320" y="804672"/>
            <a:ext cx="2834640" cy="457200"/>
          </a:xfrm>
          <a:prstGeom prst="rect">
            <a:avLst/>
          </a:prstGeom>
          <a:solidFill>
            <a:srgbClr val="F5A623"/>
          </a:solidFill>
          <a:ln w="12700">
            <a:solidFill>
              <a:srgbClr val="F5A623"/>
            </a:solidFill>
            <a:prstDash val="solid"/>
          </a:ln>
        </p:spPr>
        <p:txBody>
          <a:bodyPr/>
          <a:lstStyle/>
          <a:p>
            <a:endParaRPr lang="en-US"/>
          </a:p>
        </p:txBody>
      </p:sp>
      <p:sp>
        <p:nvSpPr>
          <p:cNvPr id="7" name="Text 4"/>
          <p:cNvSpPr/>
          <p:nvPr/>
        </p:nvSpPr>
        <p:spPr>
          <a:xfrm>
            <a:off x="274320" y="804672"/>
            <a:ext cx="2834640" cy="457200"/>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RQ1</a:t>
            </a:r>
            <a:endParaRPr lang="en-US" sz="1700" dirty="0"/>
          </a:p>
        </p:txBody>
      </p:sp>
      <p:sp>
        <p:nvSpPr>
          <p:cNvPr id="8" name="Text 5"/>
          <p:cNvSpPr/>
          <p:nvPr/>
        </p:nvSpPr>
        <p:spPr>
          <a:xfrm>
            <a:off x="384048" y="1316736"/>
            <a:ext cx="2615184" cy="384048"/>
          </a:xfrm>
          <a:prstGeom prst="rect">
            <a:avLst/>
          </a:prstGeom>
          <a:noFill/>
          <a:ln/>
        </p:spPr>
        <p:txBody>
          <a:bodyPr wrap="square" lIns="0" tIns="0" rIns="0" bIns="0"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Which Stats Drive PER?</a:t>
            </a:r>
            <a:endParaRPr lang="en-US" sz="1300" dirty="0"/>
          </a:p>
        </p:txBody>
      </p:sp>
      <p:sp>
        <p:nvSpPr>
          <p:cNvPr id="9" name="Text 6"/>
          <p:cNvSpPr/>
          <p:nvPr/>
        </p:nvSpPr>
        <p:spPr>
          <a:xfrm>
            <a:off x="384048" y="1773936"/>
            <a:ext cx="2615184" cy="2011680"/>
          </a:xfrm>
          <a:prstGeom prst="rect">
            <a:avLst/>
          </a:prstGeom>
          <a:noFill/>
          <a:ln/>
        </p:spPr>
        <p:txBody>
          <a:bodyPr wrap="square" lIns="0" tIns="0" rIns="0" bIns="0" rtlCol="0" anchor="ctr"/>
          <a:lstStyle/>
          <a:p>
            <a:pPr marL="0" indent="0">
              <a:lnSpc>
                <a:spcPct val="135000"/>
              </a:lnSpc>
              <a:buNone/>
            </a:pPr>
            <a:r>
              <a:rPr lang="en-US" sz="1200" dirty="0">
                <a:solidFill>
                  <a:srgbClr val="F0F4FF"/>
                </a:solidFill>
                <a:latin typeface="Calibri" pitchFamily="34" charset="0"/>
                <a:ea typeface="Calibri" pitchFamily="34" charset="-122"/>
                <a:cs typeface="Calibri" pitchFamily="34" charset="-120"/>
              </a:rPr>
              <a:t>Scoring volume (PTS, r=0.94) is the dominant driver. Assists, steals, rebounds, and blocks all add real value. FG% alone is weak — efficiency only matters with volume.</a:t>
            </a:r>
            <a:endParaRPr lang="en-US" sz="1200" dirty="0"/>
          </a:p>
        </p:txBody>
      </p:sp>
      <p:sp>
        <p:nvSpPr>
          <p:cNvPr id="10" name="Shape 7"/>
          <p:cNvSpPr/>
          <p:nvPr/>
        </p:nvSpPr>
        <p:spPr>
          <a:xfrm>
            <a:off x="3200400" y="804672"/>
            <a:ext cx="2834640" cy="3108960"/>
          </a:xfrm>
          <a:prstGeom prst="rect">
            <a:avLst/>
          </a:prstGeom>
          <a:solidFill>
            <a:srgbClr val="112240"/>
          </a:solidFill>
          <a:ln w="19050">
            <a:solidFill>
              <a:srgbClr val="1ABC9C"/>
            </a:solidFill>
            <a:prstDash val="solid"/>
          </a:ln>
          <a:effectLst>
            <a:outerShdw blurRad="101600" dist="38100" dir="8100000" algn="bl" rotWithShape="0">
              <a:srgbClr val="000000">
                <a:alpha val="18000"/>
              </a:srgbClr>
            </a:outerShdw>
          </a:effectLst>
        </p:spPr>
        <p:txBody>
          <a:bodyPr/>
          <a:lstStyle/>
          <a:p>
            <a:endParaRPr lang="en-US"/>
          </a:p>
        </p:txBody>
      </p:sp>
      <p:sp>
        <p:nvSpPr>
          <p:cNvPr id="11" name="Shape 8"/>
          <p:cNvSpPr/>
          <p:nvPr/>
        </p:nvSpPr>
        <p:spPr>
          <a:xfrm>
            <a:off x="3200400" y="804672"/>
            <a:ext cx="2834640" cy="457200"/>
          </a:xfrm>
          <a:prstGeom prst="rect">
            <a:avLst/>
          </a:prstGeom>
          <a:solidFill>
            <a:srgbClr val="1ABC9C"/>
          </a:solidFill>
          <a:ln w="12700">
            <a:solidFill>
              <a:srgbClr val="1ABC9C"/>
            </a:solidFill>
            <a:prstDash val="solid"/>
          </a:ln>
        </p:spPr>
        <p:txBody>
          <a:bodyPr/>
          <a:lstStyle/>
          <a:p>
            <a:endParaRPr lang="en-US"/>
          </a:p>
        </p:txBody>
      </p:sp>
      <p:sp>
        <p:nvSpPr>
          <p:cNvPr id="12" name="Text 9"/>
          <p:cNvSpPr/>
          <p:nvPr/>
        </p:nvSpPr>
        <p:spPr>
          <a:xfrm>
            <a:off x="3200400" y="804672"/>
            <a:ext cx="2834640" cy="457200"/>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RQ2</a:t>
            </a:r>
            <a:endParaRPr lang="en-US" sz="1700" dirty="0"/>
          </a:p>
        </p:txBody>
      </p:sp>
      <p:sp>
        <p:nvSpPr>
          <p:cNvPr id="13" name="Text 10"/>
          <p:cNvSpPr/>
          <p:nvPr/>
        </p:nvSpPr>
        <p:spPr>
          <a:xfrm>
            <a:off x="3310128" y="1316736"/>
            <a:ext cx="2615184" cy="384048"/>
          </a:xfrm>
          <a:prstGeom prst="rect">
            <a:avLst/>
          </a:prstGeom>
          <a:noFill/>
          <a:ln/>
        </p:spPr>
        <p:txBody>
          <a:bodyPr wrap="square" lIns="0" tIns="0" rIns="0" bIns="0" rtlCol="0" anchor="ctr"/>
          <a:lstStyle/>
          <a:p>
            <a:pPr marL="0" indent="0">
              <a:buNone/>
            </a:pPr>
            <a:r>
              <a:rPr lang="en-US" sz="1300" b="1" dirty="0">
                <a:solidFill>
                  <a:srgbClr val="1ABC9C"/>
                </a:solidFill>
                <a:latin typeface="Calibri" pitchFamily="34" charset="0"/>
                <a:ea typeface="Calibri" pitchFamily="34" charset="-122"/>
                <a:cs typeface="Calibri" pitchFamily="34" charset="-120"/>
              </a:rPr>
              <a:t>Does Position Matter?</a:t>
            </a:r>
            <a:endParaRPr lang="en-US" sz="1300" dirty="0"/>
          </a:p>
        </p:txBody>
      </p:sp>
      <p:sp>
        <p:nvSpPr>
          <p:cNvPr id="14" name="Text 11"/>
          <p:cNvSpPr/>
          <p:nvPr/>
        </p:nvSpPr>
        <p:spPr>
          <a:xfrm>
            <a:off x="3310128" y="1773936"/>
            <a:ext cx="2615184" cy="2011680"/>
          </a:xfrm>
          <a:prstGeom prst="rect">
            <a:avLst/>
          </a:prstGeom>
          <a:noFill/>
          <a:ln/>
        </p:spPr>
        <p:txBody>
          <a:bodyPr wrap="square" lIns="0" tIns="0" rIns="0" bIns="0" rtlCol="0" anchor="ctr"/>
          <a:lstStyle/>
          <a:p>
            <a:pPr marL="0" indent="0">
              <a:lnSpc>
                <a:spcPct val="135000"/>
              </a:lnSpc>
              <a:buNone/>
            </a:pPr>
            <a:r>
              <a:rPr lang="en-US" sz="1200" dirty="0">
                <a:solidFill>
                  <a:srgbClr val="F0F4FF"/>
                </a:solidFill>
                <a:latin typeface="Calibri" pitchFamily="34" charset="0"/>
                <a:ea typeface="Calibri" pitchFamily="34" charset="-122"/>
                <a:cs typeface="Calibri" pitchFamily="34" charset="-120"/>
              </a:rPr>
              <a:t>Yes. Centers average the highest PER (21.5) due to interior FG% and rebounding. Guards show the most variance. Position group is a meaningful factor in PER outcomes.</a:t>
            </a:r>
            <a:endParaRPr lang="en-US" sz="1200" dirty="0"/>
          </a:p>
        </p:txBody>
      </p:sp>
      <p:sp>
        <p:nvSpPr>
          <p:cNvPr id="15" name="Shape 12"/>
          <p:cNvSpPr/>
          <p:nvPr/>
        </p:nvSpPr>
        <p:spPr>
          <a:xfrm>
            <a:off x="6126480" y="804672"/>
            <a:ext cx="2834640" cy="3108960"/>
          </a:xfrm>
          <a:prstGeom prst="rect">
            <a:avLst/>
          </a:prstGeom>
          <a:solidFill>
            <a:srgbClr val="112240"/>
          </a:solidFill>
          <a:ln w="19050">
            <a:solidFill>
              <a:srgbClr val="5DADE2"/>
            </a:solidFill>
            <a:prstDash val="solid"/>
          </a:ln>
          <a:effectLst>
            <a:outerShdw blurRad="101600" dist="38100" dir="8100000" algn="bl" rotWithShape="0">
              <a:srgbClr val="000000">
                <a:alpha val="18000"/>
              </a:srgbClr>
            </a:outerShdw>
          </a:effectLst>
        </p:spPr>
        <p:txBody>
          <a:bodyPr/>
          <a:lstStyle/>
          <a:p>
            <a:endParaRPr lang="en-US"/>
          </a:p>
        </p:txBody>
      </p:sp>
      <p:sp>
        <p:nvSpPr>
          <p:cNvPr id="16" name="Shape 13"/>
          <p:cNvSpPr/>
          <p:nvPr/>
        </p:nvSpPr>
        <p:spPr>
          <a:xfrm>
            <a:off x="6126480" y="804672"/>
            <a:ext cx="2834640" cy="457200"/>
          </a:xfrm>
          <a:prstGeom prst="rect">
            <a:avLst/>
          </a:prstGeom>
          <a:solidFill>
            <a:srgbClr val="5DADE2"/>
          </a:solidFill>
          <a:ln w="12700">
            <a:solidFill>
              <a:srgbClr val="5DADE2"/>
            </a:solidFill>
            <a:prstDash val="solid"/>
          </a:ln>
        </p:spPr>
        <p:txBody>
          <a:bodyPr/>
          <a:lstStyle/>
          <a:p>
            <a:endParaRPr lang="en-US"/>
          </a:p>
        </p:txBody>
      </p:sp>
      <p:sp>
        <p:nvSpPr>
          <p:cNvPr id="17" name="Text 14"/>
          <p:cNvSpPr/>
          <p:nvPr/>
        </p:nvSpPr>
        <p:spPr>
          <a:xfrm>
            <a:off x="6126480" y="804672"/>
            <a:ext cx="2834640" cy="457200"/>
          </a:xfrm>
          <a:prstGeom prst="rect">
            <a:avLst/>
          </a:prstGeom>
          <a:noFill/>
          <a:ln/>
        </p:spPr>
        <p:txBody>
          <a:bodyPr wrap="square" lIns="0" tIns="0" rIns="0" bIns="0" rtlCol="0" anchor="ctr"/>
          <a:lstStyle/>
          <a:p>
            <a:pPr marL="0" indent="0" algn="ctr">
              <a:buNone/>
            </a:pPr>
            <a:r>
              <a:rPr lang="en-US" sz="1700" b="1" dirty="0">
                <a:solidFill>
                  <a:srgbClr val="0A1628"/>
                </a:solidFill>
                <a:latin typeface="Calibri" pitchFamily="34" charset="0"/>
                <a:ea typeface="Calibri" pitchFamily="34" charset="-122"/>
                <a:cs typeface="Calibri" pitchFamily="34" charset="-120"/>
              </a:rPr>
              <a:t>RQ3</a:t>
            </a:r>
            <a:endParaRPr lang="en-US" sz="1700" dirty="0"/>
          </a:p>
        </p:txBody>
      </p:sp>
      <p:sp>
        <p:nvSpPr>
          <p:cNvPr id="18" name="Text 15"/>
          <p:cNvSpPr/>
          <p:nvPr/>
        </p:nvSpPr>
        <p:spPr>
          <a:xfrm>
            <a:off x="6236208" y="1316736"/>
            <a:ext cx="2615184" cy="384048"/>
          </a:xfrm>
          <a:prstGeom prst="rect">
            <a:avLst/>
          </a:prstGeom>
          <a:noFill/>
          <a:ln/>
        </p:spPr>
        <p:txBody>
          <a:bodyPr wrap="square" lIns="0" tIns="0" rIns="0" bIns="0" rtlCol="0" anchor="ctr"/>
          <a:lstStyle/>
          <a:p>
            <a:pPr marL="0" indent="0">
              <a:buNone/>
            </a:pPr>
            <a:r>
              <a:rPr lang="en-US" sz="1300" b="1" dirty="0">
                <a:solidFill>
                  <a:srgbClr val="5DADE2"/>
                </a:solidFill>
                <a:latin typeface="Calibri" pitchFamily="34" charset="0"/>
                <a:ea typeface="Calibri" pitchFamily="34" charset="-122"/>
                <a:cs typeface="Calibri" pitchFamily="34" charset="-120"/>
              </a:rPr>
              <a:t>Can We Predict PER?</a:t>
            </a:r>
            <a:endParaRPr lang="en-US" sz="1300" dirty="0"/>
          </a:p>
        </p:txBody>
      </p:sp>
      <p:sp>
        <p:nvSpPr>
          <p:cNvPr id="19" name="Text 16"/>
          <p:cNvSpPr/>
          <p:nvPr/>
        </p:nvSpPr>
        <p:spPr>
          <a:xfrm>
            <a:off x="6236208" y="1773936"/>
            <a:ext cx="2615184" cy="2011680"/>
          </a:xfrm>
          <a:prstGeom prst="rect">
            <a:avLst/>
          </a:prstGeom>
          <a:noFill/>
          <a:ln/>
        </p:spPr>
        <p:txBody>
          <a:bodyPr wrap="square" lIns="0" tIns="0" rIns="0" bIns="0" rtlCol="0" anchor="ctr"/>
          <a:lstStyle/>
          <a:p>
            <a:pPr marL="0" indent="0">
              <a:lnSpc>
                <a:spcPct val="135000"/>
              </a:lnSpc>
              <a:buNone/>
            </a:pPr>
            <a:r>
              <a:rPr lang="en-US" sz="1200" dirty="0">
                <a:solidFill>
                  <a:srgbClr val="F0F4FF"/>
                </a:solidFill>
                <a:latin typeface="Calibri" pitchFamily="34" charset="0"/>
                <a:ea typeface="Calibri" pitchFamily="34" charset="-122"/>
                <a:cs typeface="Calibri" pitchFamily="34" charset="-120"/>
              </a:rPr>
              <a:t>Yes. Our regression model hits R²=0.954 with RMSE of 1.19 PER points. Box score stats explain 95% of PER variance. Points, Rebounds, and Assists are the top 3 drivers.</a:t>
            </a:r>
            <a:endParaRPr lang="en-US" sz="1200" dirty="0"/>
          </a:p>
        </p:txBody>
      </p:sp>
      <p:sp>
        <p:nvSpPr>
          <p:cNvPr id="20" name="Shape 17"/>
          <p:cNvSpPr/>
          <p:nvPr/>
        </p:nvSpPr>
        <p:spPr>
          <a:xfrm>
            <a:off x="274320" y="4069080"/>
            <a:ext cx="8595360" cy="822960"/>
          </a:xfrm>
          <a:prstGeom prst="rect">
            <a:avLst/>
          </a:prstGeom>
          <a:solidFill>
            <a:srgbClr val="0D2137"/>
          </a:solidFill>
          <a:ln w="19050">
            <a:solidFill>
              <a:srgbClr val="C9A84C"/>
            </a:solidFill>
            <a:prstDash val="solid"/>
          </a:ln>
          <a:effectLst>
            <a:outerShdw blurRad="101600" dist="38100" dir="8100000" algn="bl" rotWithShape="0">
              <a:srgbClr val="000000">
                <a:alpha val="18000"/>
              </a:srgbClr>
            </a:outerShdw>
          </a:effectLst>
        </p:spPr>
        <p:txBody>
          <a:bodyPr/>
          <a:lstStyle/>
          <a:p>
            <a:endParaRPr lang="en-US"/>
          </a:p>
        </p:txBody>
      </p:sp>
      <p:pic>
        <p:nvPicPr>
          <p:cNvPr id="21" name="Image 1" descr="preencoded.png"/>
          <p:cNvPicPr>
            <a:picLocks noChangeAspect="1"/>
          </p:cNvPicPr>
          <p:nvPr/>
        </p:nvPicPr>
        <p:blipFill>
          <a:blip r:embed="rId4"/>
          <a:stretch>
            <a:fillRect/>
          </a:stretch>
        </p:blipFill>
        <p:spPr>
          <a:xfrm>
            <a:off x="438912" y="4178808"/>
            <a:ext cx="329184" cy="329184"/>
          </a:xfrm>
          <a:prstGeom prst="rect">
            <a:avLst/>
          </a:prstGeom>
        </p:spPr>
      </p:pic>
      <p:sp>
        <p:nvSpPr>
          <p:cNvPr id="22" name="Text 18"/>
          <p:cNvSpPr/>
          <p:nvPr/>
        </p:nvSpPr>
        <p:spPr>
          <a:xfrm>
            <a:off x="868680" y="4087368"/>
            <a:ext cx="3200400" cy="274320"/>
          </a:xfrm>
          <a:prstGeom prst="rect">
            <a:avLst/>
          </a:prstGeom>
          <a:noFill/>
          <a:ln/>
        </p:spPr>
        <p:txBody>
          <a:bodyPr wrap="square" lIns="0" tIns="0" rIns="0" bIns="0" rtlCol="0" anchor="ctr"/>
          <a:lstStyle/>
          <a:p>
            <a:pPr marL="0" indent="0">
              <a:buNone/>
            </a:pPr>
            <a:r>
              <a:rPr lang="en-US" sz="1100" b="1" dirty="0">
                <a:solidFill>
                  <a:srgbClr val="C9A84C"/>
                </a:solidFill>
                <a:latin typeface="Calibri" pitchFamily="34" charset="0"/>
                <a:ea typeface="Calibri" pitchFamily="34" charset="-122"/>
                <a:cs typeface="Calibri" pitchFamily="34" charset="-120"/>
              </a:rPr>
              <a:t>Practical Takeaway</a:t>
            </a:r>
            <a:endParaRPr lang="en-US" sz="1100" dirty="0"/>
          </a:p>
        </p:txBody>
      </p:sp>
      <p:sp>
        <p:nvSpPr>
          <p:cNvPr id="23" name="Text 19"/>
          <p:cNvSpPr/>
          <p:nvPr/>
        </p:nvSpPr>
        <p:spPr>
          <a:xfrm>
            <a:off x="868680" y="4352544"/>
            <a:ext cx="7863840" cy="457200"/>
          </a:xfrm>
          <a:prstGeom prst="rect">
            <a:avLst/>
          </a:prstGeom>
          <a:noFill/>
          <a:ln/>
        </p:spPr>
        <p:txBody>
          <a:bodyPr wrap="square" lIns="0" tIns="0" rIns="0" bIns="0" rtlCol="0" anchor="ctr"/>
          <a:lstStyle/>
          <a:p>
            <a:pPr marL="0" indent="0">
              <a:buNone/>
            </a:pPr>
            <a:r>
              <a:rPr lang="en-US" sz="1150" i="1" dirty="0">
                <a:solidFill>
                  <a:srgbClr val="F0F4FF"/>
                </a:solidFill>
                <a:latin typeface="Calibri" pitchFamily="34" charset="0"/>
                <a:ea typeface="Calibri" pitchFamily="34" charset="-122"/>
                <a:cs typeface="Calibri" pitchFamily="34" charset="-120"/>
              </a:rPr>
              <a:t>The single most impactful change a player can make to their PER is reducing turnovers while maintaining scoring volume. Front offices can estimate PER from basic stats alone — no tracking data required.</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1430</Words>
  <Application>Microsoft Office PowerPoint</Application>
  <PresentationFormat>On-screen Show (16:9)</PresentationFormat>
  <Paragraphs>134</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NBA PER Analysis — SAL 603</dc:title>
  <dc:subject>PptxGenJS Presentation</dc:subject>
  <dc:creator>SAL 603 Group</dc:creator>
  <cp:lastModifiedBy>Wesley Bryan</cp:lastModifiedBy>
  <cp:revision>2</cp:revision>
  <dcterms:created xsi:type="dcterms:W3CDTF">2026-03-07T00:53:51Z</dcterms:created>
  <dcterms:modified xsi:type="dcterms:W3CDTF">2026-03-07T03:33:18Z</dcterms:modified>
</cp:coreProperties>
</file>